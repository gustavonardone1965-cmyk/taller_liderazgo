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2" r:id="rId2"/>
    <p:sldId id="256" r:id="rId3"/>
    <p:sldId id="257" r:id="rId4"/>
    <p:sldId id="258" r:id="rId5"/>
    <p:sldId id="259" r:id="rId6"/>
    <p:sldId id="260" r:id="rId7"/>
    <p:sldId id="261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2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709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French y Raven (1959) clasificaron cinco bases del poder social: recompensa, coerción, legitimidad, pericia y referencia; Raven (1965) agregó la base informacional. La columna 'capacidad observada' resume las hipótesis originales de French y Raven: la coerción reduce la atracción hacia el líder y genera alta resistencia, mientras que la recompensa aumenta la atracción y genera baja resistencia; los cambios logrados con recompensa o coerción dependen de que el líder observe la conducta, mientras que los logrados con poder legítimo, experto o referente se sostienen sin vigilancia; el poder referente tiene el rango de influencia más amplio; y usar el poder fuera de su rango lo debilita. Kahn y colaboradores (1964) usaron esta taxonomía para estudiar cómo influyen los 'emisores de rol' en las organizaciones. Conexión con el caso: el encargado opera con poder de posición (legítimo y coercitivo) y el equipo responde con conformidad mínima y resistencia; la referente informal del local concentra el poder referente. Pregunta para el aula: ¿qué base de poder usás más en tu turno y qué respuesta obtenés?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Idea fuerza del libro: el líder no influye por sus rasgos ni por su cargo, sino porque el grupo lo percibe como representante de su identidad social compartida ("nosotros"). Las cuatro dimensiones (prototipicidad, promoción, emprendimiento e impresariado de identidad) son las que mide el Identity Leadership Inventory incluido en la 2ª edición. Aplicación Grido: en la planta, el supervisor de línea y de distribución; en la franquicia, el franquiciado y el encargado de local. Puntos transversales del libro: poder "a través de" (power through) versus poder "sobre" (power over); justicia procedimental como señal de pertenencia; y el carisma como atribución de los seguidores, no como don del líder. Pregunta para el aula: ¿a quién sigue realmente tu equipo cuando vos no estás?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libro contrasta la "vieja psicología" del liderazgo (centrada en rasgos del individuo, en el carisma como don personal y en el intercambio transaccional de premios y castigos) con una "nueva psicología" basada en la teoría de la identidad social y la teoría de la autocategorización. En el caso, el encargado actúa desde la vieja psicología: su influencia descansa en el cargo y en el control. El equipo, en cambio, funciona como predice la nueva psicología: lo juzga según su ajuste al prototipo del grupo. Ese desajuste es el corazón del conflicto. Lo que debe predominar: liderazgo de identidad, donde la influencia surge de representar, defender, construir y hacer visible el nosotros. Pregunta para el aula: ¿en tu planta o local, la gente sigue al cargo o a la persona?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Versión destilada: cada espina tiene una sola hipótesis y una evidencia concreta para verificarla en el local, de modo que el Ishikawa no quede en opiniones. Las hipótesis se agrupan en dos familias. Familia identidad (H1, H5, H6): el encargado no representa, no defiende y no construye el nosotros; son tres de las cuatro dimensiones del liderazgo de identidad. Familia poder y justicia (H2, H3): ante la falta de influencia recurre al control, que el libro describe como poder "sobre", y viola la justicia procedimental. H4 es el agravante de entorno: la cadena planta-reparto-local está categorizada como "ellos". Dinámica sugerida: grupos de 4 personas, cada grupo valida o descarta dos hipótesis con la evidencia indicada.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cadena superior resume la lógica del libro: la influencia no es una propiedad del líder sino un resultado de la identidad compartida; cuando ésta cae, cae la disposición a esforzarse por el grupo, y eso se traslada al servicio y a los números. El impacto en el equipo va primero porque es causa del impacto en el negocio, no consecuencia. Desidentificación: sin nosotros, el trabajo se vuelve transacción individual. Fractura interna: el grupo se reorganiza alrededor de un referente que sí es prototípico; es contraliderazgo. Silencio: consecuencia del poder coercitivo y de la falta de justicia procedimental. Desgaste: los autores, en su línea de investigación sobre identidad social y estrés, muestran que la identidad compartida es un recurso para afrontar la presión. Para el negocio, no se presentan cifras: cada impacto debe cuantificarse con datos del local (ventas por franja horaria, costo de reemplazo de un empleado, quiebres y pedidos urgentes, resultado de auditorías).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A3 sigue la lógica clásica: contexto, situación actual, objetivo, causa raíz y contramedidas; el bloque 6 (seguimiento) está en la diapositiva siguiente junto con la detección temprana. Coherencia concepto-acción: cada contramedida ataca una hipótesis del Ishikawa. Readying responde a la vieja psicología del encargado (H3). Reflecting construye el nosotros que falta (H6) y da voz al equipo (H2). Representing recupera la prototipicidad (H1) y la promoción del grupo (H5). Realizing hace visible el nosotros con rituales y estructuras, y reemplaza el poder sobre por poder a través del grupo (H3, H6). Reviewing mide y amplía el nosotros a la planta y el reparto (H4). Las metas quedan como [__] para definirlas con la línea de base real del local.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detección temprana se apoya en que los problemas de identidad aparecen antes en el lenguaje y en la conducta del grupo que en los indicadores de negocio. El pronombre es la señal más barata y más temprana: el libro muestra que los líderes eficaces hablan y son hablados en términos de "nosotros". El silencio y el cumplimiento mínimo indican poder "sobre" y falta de justicia procedimental. La aparición de un referente informal indica que el grupo encontró a alguien más prototípico. Instrumentos: el Identity Leadership Inventory mide las cuatro dimensiones (prototipicidad, promoción, emprendimiento e impresariado); las tres preguntas de justicia son una versión simple de voz, explicación y trato igualitario. Prevención: la mayoría de estos conflictos se gestan en el ingreso del nuevo líder, por eso el onboarding debe construir pertenencia antes que autoridad. Cierre del curso: ¿qué señal de esta lista ya ves hoy en tu planta o local?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Cierre del curso. Idea central: el liderazgo es un proceso de grupo; el líder influye en la medida en que representa la identidad compartida. 1) Influencia: surge del nosotros; el poder es su consecuencia. 2) Carisma: los estudios de Platow muestran que es una atribución de los seguidores. 3) Las cuatro tareas: prototipicidad, promoción, emprendimiento e impresariado de identidad. 4) Poder a través del grupo frente a poder sobre el grupo; vincula con la tabla de French y Raven de la primera slide. 5) Experimento de la Prisión de la BBC (Reicher y Haslam): la tiranía aparece cuando el grupo fracasa, no por el rol en sí. 6) Justicia: depende del contexto grupal. 7) Aplicabilidad: programa 5R y encuesta ILI. Mensaje final para Grido: el encargado o supervisor lidera desde adentro del equipo, no desde arriba.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1200" y="457200"/>
            <a:ext cx="10769600" cy="363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2600" dirty="0">
                <a:solidFill>
                  <a:srgbClr val="1E2A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2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711200" y="1125185"/>
            <a:ext cx="10668000" cy="49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E2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1200" y="457200"/>
            <a:ext cx="10769600" cy="363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2600" dirty="0">
                <a:solidFill>
                  <a:srgbClr val="1E2A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2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711200" y="1125185"/>
            <a:ext cx="10668000" cy="49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E2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420000"/>
            <a:ext cx="10769600" cy="420000"/>
          </a:xfrm>
        </p:spPr>
        <p:txBody>
          <a:bodyPr/>
          <a:lstStyle/>
          <a:p>
            <a:pPr algn="l"/>
            <a:r>
              <a:rPr sz="2600" b="1">
                <a:solidFill>
                  <a:srgbClr val="1E2A3A"/>
                </a:solidFill>
                <a:latin typeface="Source Serif 4"/>
              </a:rPr>
              <a:t>Bases del poder de French y Raven: qué provocan en las personas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950000"/>
            <a:ext cx="1076960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E2A3A"/>
                </a:solidFill>
                <a:latin typeface="IBM Plex Sans"/>
              </a:rPr>
              <a:t>Pregunta clave: </a:t>
            </a:r>
            <a:r>
              <a:rPr sz="1300" b="0">
                <a:solidFill>
                  <a:srgbClr val="3E4A5A"/>
                </a:solidFill>
                <a:latin typeface="IBM Plex Sans"/>
              </a:rPr>
              <a:t>¿de dónde saca el líder su capacidad de influir, y qué respuesta obtiene del equipo? No todas las clases de poder producen el mismo efecto ni duran lo mismo.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11200" y="1480000"/>
          <a:ext cx="10769600" cy="3580000"/>
        </p:xfrm>
        <a:graphic>
          <a:graphicData uri="http://schemas.openxmlformats.org/drawingml/2006/table">
            <a:tbl>
              <a:tblPr/>
              <a:tblGrid>
                <a:gridCol w="1400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6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7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9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462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7F4EE"/>
                          </a:solidFill>
                          <a:latin typeface="IBM Plex Sans"/>
                        </a:rPr>
                        <a:t>Base de poder</a:t>
                      </a:r>
                    </a:p>
                  </a:txBody>
                  <a:tcPr marL="64000" marR="64000" marT="40000" marB="40000" anchor="ctr"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7F4EE"/>
                          </a:solidFill>
                          <a:latin typeface="IBM Plex Sans"/>
                        </a:rPr>
                        <a:t>Fuente: de dónde surge</a:t>
                      </a:r>
                    </a:p>
                  </a:txBody>
                  <a:tcPr marL="64000" marR="64000" marT="40000" marB="40000" anchor="ctr"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2A65A"/>
                          </a:solidFill>
                          <a:latin typeface="IBM Plex Sans"/>
                        </a:rPr>
                        <a:t>Capacidad observada sobre las personas</a:t>
                      </a:r>
                    </a:p>
                  </a:txBody>
                  <a:tcPr marL="64000" marR="64000" marT="40000" marB="40000" anchor="ctr"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7F4EE"/>
                          </a:solidFill>
                          <a:latin typeface="IBM Plex Sans"/>
                        </a:rPr>
                        <a:t>Riesgo / respuesta típica</a:t>
                      </a:r>
                    </a:p>
                  </a:txBody>
                  <a:tcPr marL="64000" marR="64000" marT="40000" marB="40000" anchor="ctr"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7F4EE"/>
                          </a:solidFill>
                          <a:latin typeface="IBM Plex Sans"/>
                        </a:rPr>
                        <a:t>En Grido (planta / franquicia)</a:t>
                      </a:r>
                    </a:p>
                  </a:txBody>
                  <a:tcPr marL="64000" marR="64000" marT="40000" marB="40000" anchor="ctr">
                    <a:solidFill>
                      <a:srgbClr val="1E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B4501A"/>
                          </a:solidFill>
                          <a:latin typeface="IBM Plex Sans"/>
                        </a:rPr>
                        <a:t>Recompensa</a:t>
                      </a:r>
                    </a:p>
                  </a:txBody>
                  <a:tcPr marL="64000" marR="64000" marT="40000" marB="40000" anchor="ctr"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E4A5A"/>
                          </a:solidFill>
                          <a:latin typeface="IBM Plex Sans"/>
                        </a:rPr>
                        <a:t>Control de premios: turnos, francos, horas extra, bonos</a:t>
                      </a:r>
                    </a:p>
                  </a:txBody>
                  <a:tcPr marL="64000" marR="64000" marT="40000" marB="40000" anchor="ctr"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A3A"/>
                          </a:solidFill>
                          <a:latin typeface="IBM Plex Sans"/>
                        </a:rPr>
                        <a:t>Conformidad mientras haya premio; aumenta la atracción hacia el líder y la resistencia es baja</a:t>
                      </a:r>
                    </a:p>
                  </a:txBody>
                  <a:tcPr marL="64000" marR="64000" marT="40000" marB="40000" anchor="ctr"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E4A5A"/>
                          </a:solidFill>
                          <a:latin typeface="IBM Plex Sans"/>
                        </a:rPr>
                        <a:t>Depende de que el líder vea y pague: sin premio, cae el esfuerzo</a:t>
                      </a:r>
                    </a:p>
                  </a:txBody>
                  <a:tcPr marL="64000" marR="64000" marT="40000" marB="40000" anchor="ctr"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E4A5A"/>
                          </a:solidFill>
                          <a:latin typeface="IBM Plex Sans"/>
                        </a:rPr>
                        <a:t>Encargado que reparte los mejores turnos</a:t>
                      </a:r>
                    </a:p>
                  </a:txBody>
                  <a:tcPr marL="64000" marR="64000" marT="40000" marB="40000" anchor="ctr">
                    <a:solidFill>
                      <a:srgbClr val="FFFD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B4501A"/>
                          </a:solidFill>
                          <a:latin typeface="IBM Plex Sans"/>
                        </a:rPr>
                        <a:t>Coercitivo</a:t>
                      </a:r>
                    </a:p>
                  </a:txBody>
                  <a:tcPr marL="64000" marR="64000" marT="40000" marB="4000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E4A5A"/>
                          </a:solidFill>
                          <a:latin typeface="IBM Plex Sans"/>
                        </a:rPr>
                        <a:t>Capacidad de sancionar o castigar</a:t>
                      </a:r>
                    </a:p>
                  </a:txBody>
                  <a:tcPr marL="64000" marR="64000" marT="40000" marB="4000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A3A"/>
                          </a:solidFill>
                          <a:latin typeface="IBM Plex Sans"/>
                        </a:rPr>
                        <a:t>Conformidad visible solo bajo vigilancia; disminuye la atracción y genera alta resistencia</a:t>
                      </a:r>
                    </a:p>
                  </a:txBody>
                  <a:tcPr marL="64000" marR="64000" marT="40000" marB="4000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E4A5A"/>
                          </a:solidFill>
                          <a:latin typeface="IBM Plex Sans"/>
                        </a:rPr>
                        <a:t>Obediencia sin compromiso, resentimiento, rotación</a:t>
                      </a:r>
                    </a:p>
                  </a:txBody>
                  <a:tcPr marL="64000" marR="64000" marT="40000" marB="4000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E4A5A"/>
                          </a:solidFill>
                          <a:latin typeface="IBM Plex Sans"/>
                        </a:rPr>
                        <a:t>Apercibimientos en público (caso del curso)</a:t>
                      </a:r>
                    </a:p>
                  </a:txBody>
                  <a:tcPr marL="64000" marR="64000" marT="40000" marB="40000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B4501A"/>
                          </a:solidFill>
                          <a:latin typeface="IBM Plex Sans"/>
                        </a:rPr>
                        <a:t>Legítimo</a:t>
                      </a:r>
                    </a:p>
                  </a:txBody>
                  <a:tcPr marL="64000" marR="64000" marT="40000" marB="40000" anchor="ctr"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E4A5A"/>
                          </a:solidFill>
                          <a:latin typeface="IBM Plex Sans"/>
                        </a:rPr>
                        <a:t>Cargo y normas que el grupo acepta</a:t>
                      </a:r>
                    </a:p>
                  </a:txBody>
                  <a:tcPr marL="64000" marR="64000" marT="40000" marB="40000" anchor="ctr"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A3A"/>
                          </a:solidFill>
                          <a:latin typeface="IBM Plex Sans"/>
                        </a:rPr>
                        <a:t>Cambio que no necesita vigilancia, dentro del rango que el rol legitima</a:t>
                      </a:r>
                    </a:p>
                  </a:txBody>
                  <a:tcPr marL="64000" marR="64000" marT="40000" marB="40000" anchor="ctr"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E4A5A"/>
                          </a:solidFill>
                          <a:latin typeface="IBM Plex Sans"/>
                        </a:rPr>
                        <a:t>Fuera de ese rango, el intento de influir debilita el poder</a:t>
                      </a:r>
                    </a:p>
                  </a:txBody>
                  <a:tcPr marL="64000" marR="64000" marT="40000" marB="40000" anchor="ctr"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E4A5A"/>
                          </a:solidFill>
                          <a:latin typeface="IBM Plex Sans"/>
                        </a:rPr>
                        <a:t>Franquiciado o jefe de turno designado</a:t>
                      </a:r>
                    </a:p>
                  </a:txBody>
                  <a:tcPr marL="64000" marR="64000" marT="40000" marB="40000" anchor="ctr">
                    <a:solidFill>
                      <a:srgbClr val="FFFD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C5D8F"/>
                          </a:solidFill>
                          <a:latin typeface="IBM Plex Sans"/>
                        </a:rPr>
                        <a:t>Experto</a:t>
                      </a:r>
                    </a:p>
                  </a:txBody>
                  <a:tcPr marL="64000" marR="64000" marT="40000" marB="4000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E4A5A"/>
                          </a:solidFill>
                          <a:latin typeface="IBM Plex Sans"/>
                        </a:rPr>
                        <a:t>Conocimiento y pericia percibidos</a:t>
                      </a:r>
                    </a:p>
                  </a:txBody>
                  <a:tcPr marL="64000" marR="64000" marT="40000" marB="4000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A3A"/>
                          </a:solidFill>
                          <a:latin typeface="IBM Plex Sans"/>
                        </a:rPr>
                        <a:t>Aceptación sin vigilancia, limitada al área de pericia</a:t>
                      </a:r>
                    </a:p>
                  </a:txBody>
                  <a:tcPr marL="64000" marR="64000" marT="40000" marB="4000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E4A5A"/>
                          </a:solidFill>
                          <a:latin typeface="IBM Plex Sans"/>
                        </a:rPr>
                        <a:t>Pierde fuerza fuera de su dominio o si falla la credibilidad</a:t>
                      </a:r>
                    </a:p>
                  </a:txBody>
                  <a:tcPr marL="64000" marR="64000" marT="40000" marB="4000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E4A5A"/>
                          </a:solidFill>
                          <a:latin typeface="IBM Plex Sans"/>
                        </a:rPr>
                        <a:t>Técnico de planta en cadena de frío</a:t>
                      </a:r>
                    </a:p>
                  </a:txBody>
                  <a:tcPr marL="64000" marR="64000" marT="40000" marB="40000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C5D8F"/>
                          </a:solidFill>
                          <a:latin typeface="IBM Plex Sans"/>
                        </a:rPr>
                        <a:t>Referente</a:t>
                      </a:r>
                    </a:p>
                  </a:txBody>
                  <a:tcPr marL="64000" marR="64000" marT="40000" marB="40000" anchor="ctr"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E4A5A"/>
                          </a:solidFill>
                          <a:latin typeface="IBM Plex Sans"/>
                        </a:rPr>
                        <a:t>Identificación con el líder y el grupo</a:t>
                      </a:r>
                    </a:p>
                  </a:txBody>
                  <a:tcPr marL="64000" marR="64000" marT="40000" marB="40000" anchor="ctr"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A3A"/>
                          </a:solidFill>
                          <a:latin typeface="IBM Plex Sans"/>
                        </a:rPr>
                        <a:t>El rango de influencia más amplio; el cambio se sostiene solo</a:t>
                      </a:r>
                    </a:p>
                  </a:txBody>
                  <a:tcPr marL="64000" marR="64000" marT="40000" marB="40000" anchor="ctr"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E4A5A"/>
                          </a:solidFill>
                          <a:latin typeface="IBM Plex Sans"/>
                        </a:rPr>
                        <a:t>Se pierde si el líder deja de representar al grupo</a:t>
                      </a:r>
                    </a:p>
                  </a:txBody>
                  <a:tcPr marL="64000" marR="64000" marT="40000" marB="40000" anchor="ctr"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E4A5A"/>
                          </a:solidFill>
                          <a:latin typeface="IBM Plex Sans"/>
                        </a:rPr>
                        <a:t>Referente informal a quien el equipo consulta</a:t>
                      </a:r>
                    </a:p>
                  </a:txBody>
                  <a:tcPr marL="64000" marR="64000" marT="40000" marB="40000" anchor="ctr">
                    <a:solidFill>
                      <a:srgbClr val="FFFD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11200" y="5230000"/>
            <a:ext cx="107696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B4501A"/>
                </a:solidFill>
                <a:latin typeface="IBM Plex Sans"/>
              </a:rPr>
              <a:t>Poder de posición</a:t>
            </a:r>
            <a:r>
              <a:rPr sz="1200" b="0">
                <a:solidFill>
                  <a:srgbClr val="3E4A5A"/>
                </a:solidFill>
                <a:latin typeface="IBM Plex Sans"/>
              </a:rPr>
              <a:t> (recompensa, coercitivo, legítimo): lo da el cargo.   </a:t>
            </a:r>
            <a:r>
              <a:rPr sz="1200" b="1">
                <a:solidFill>
                  <a:srgbClr val="2C5D8F"/>
                </a:solidFill>
                <a:latin typeface="IBM Plex Sans"/>
              </a:rPr>
              <a:t>Poder personal</a:t>
            </a:r>
            <a:r>
              <a:rPr sz="1200" b="0">
                <a:solidFill>
                  <a:srgbClr val="3E4A5A"/>
                </a:solidFill>
                <a:latin typeface="IBM Plex Sans"/>
              </a:rPr>
              <a:t> (experto, referente): lo otorga el grupo.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1200" y="5580000"/>
            <a:ext cx="10769600" cy="56000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rIns="180000" rtlCol="0" anchor="ctr"/>
          <a:lstStyle/>
          <a:p>
            <a:pPr algn="l"/>
            <a:r>
              <a:rPr sz="1300" b="1">
                <a:solidFill>
                  <a:srgbClr val="F2A65A"/>
                </a:solidFill>
                <a:latin typeface="IBM Plex Sans"/>
              </a:rPr>
              <a:t>Puente con Haslam, Reicher y Platow: </a:t>
            </a:r>
            <a:r>
              <a:rPr sz="1300" b="0">
                <a:solidFill>
                  <a:srgbClr val="E9E4DA"/>
                </a:solidFill>
                <a:latin typeface="IBM Plex Sans"/>
              </a:rPr>
              <a:t>el poder referente no es un “tipo” más, es el efecto de una identidad compartida. Recompensa y coerción son poder “sobre” el grupo: logran conformidad, no influencia.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1200" y="6290000"/>
            <a:ext cx="107696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dirty="0">
                <a:solidFill>
                  <a:srgbClr val="6A7280"/>
                </a:solidFill>
                <a:latin typeface="IBM Plex Sans"/>
              </a:rPr>
              <a:t>Fuentes: French, J. R. P. y Raven, B. (1959), “The bases of social power”; Kahn, R. L. et al. (1964), Organizational Stress. </a:t>
            </a:r>
            <a:r>
              <a:rPr sz="1000" b="0" dirty="0" err="1">
                <a:solidFill>
                  <a:srgbClr val="6A7280"/>
                </a:solidFill>
                <a:latin typeface="IBM Plex Sans"/>
              </a:rPr>
              <a:t>Efectos</a:t>
            </a:r>
            <a:r>
              <a:rPr sz="1000" b="0" dirty="0">
                <a:solidFill>
                  <a:srgbClr val="6A7280"/>
                </a:solidFill>
                <a:latin typeface="IBM Plex Sans"/>
              </a:rPr>
              <a:t> </a:t>
            </a:r>
            <a:r>
              <a:rPr sz="1000" b="0" dirty="0" err="1">
                <a:solidFill>
                  <a:srgbClr val="6A7280"/>
                </a:solidFill>
                <a:latin typeface="IBM Plex Sans"/>
              </a:rPr>
              <a:t>según</a:t>
            </a:r>
            <a:r>
              <a:rPr sz="1000" b="0" dirty="0">
                <a:solidFill>
                  <a:srgbClr val="6A7280"/>
                </a:solidFill>
                <a:latin typeface="IBM Plex Sans"/>
              </a:rPr>
              <a:t> las </a:t>
            </a:r>
            <a:r>
              <a:rPr sz="1000" b="0" dirty="0" err="1">
                <a:solidFill>
                  <a:srgbClr val="6A7280"/>
                </a:solidFill>
                <a:latin typeface="IBM Plex Sans"/>
              </a:rPr>
              <a:t>hipótesis</a:t>
            </a:r>
            <a:r>
              <a:rPr sz="1000" b="0" dirty="0">
                <a:solidFill>
                  <a:srgbClr val="6A7280"/>
                </a:solidFill>
                <a:latin typeface="IBM Plex Sans"/>
              </a:rPr>
              <a:t> de French y Raven · 1/8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711200" y="558800"/>
            <a:ext cx="11092688" cy="416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E2A3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El líder como “uno de </a:t>
            </a:r>
            <a:r>
              <a:rPr lang="en-US" sz="2800" b="1" i="0" dirty="0" err="1">
                <a:solidFill>
                  <a:srgbClr val="1E2A3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nosotros</a:t>
            </a:r>
            <a:r>
              <a:rPr lang="en-US" sz="2800" b="1" i="0" dirty="0">
                <a:solidFill>
                  <a:srgbClr val="1E2A3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¨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1200" y="1110655"/>
            <a:ext cx="11092688" cy="5053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3E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Tesis:</a:t>
            </a:r>
            <a:r>
              <a:rPr lang="en-US" sz="1400" dirty="0">
                <a:solidFill>
                  <a:srgbClr val="3E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el liderazgo no es un rasgo del jefe, es un </a:t>
            </a:r>
            <a:r>
              <a:rPr lang="en-US" sz="1400" b="1" dirty="0">
                <a:solidFill>
                  <a:srgbClr val="3E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proceso de grupo</a:t>
            </a:r>
            <a:r>
              <a:rPr lang="en-US" sz="1400" dirty="0">
                <a:solidFill>
                  <a:srgbClr val="3E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Se influye en la medida en que se encarna, defiende, construye y hace visible un </a:t>
            </a:r>
            <a:r>
              <a:rPr lang="en-US" sz="1400" b="1" dirty="0">
                <a:solidFill>
                  <a:srgbClr val="B450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“nosotros” compartido</a:t>
            </a:r>
            <a:r>
              <a:rPr lang="en-US" sz="1400" dirty="0">
                <a:solidFill>
                  <a:srgbClr val="3E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14375" y="1737872"/>
            <a:ext cx="2590800" cy="2167555"/>
          </a:xfrm>
          <a:prstGeom prst="roundRect">
            <a:avLst>
              <a:gd name="adj" fmla="val 3369"/>
            </a:avLst>
          </a:prstGeom>
          <a:solidFill>
            <a:srgbClr val="FFFDF9"/>
          </a:solidFill>
          <a:ln w="6350">
            <a:solidFill>
              <a:srgbClr val="DED6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81944" y="1905441"/>
            <a:ext cx="2323331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450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01 · Prototipicidad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81944" y="2182283"/>
            <a:ext cx="2323331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25"/>
              </a:lnSpc>
              <a:buNone/>
            </a:pPr>
            <a:r>
              <a:rPr lang="en-US" sz="1500" b="1" dirty="0">
                <a:solidFill>
                  <a:srgbClr val="1E2A3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Ser uno de nosotros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81944" y="2464858"/>
            <a:ext cx="2323331" cy="6196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3E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Planta:</a:t>
            </a:r>
            <a:r>
              <a:rPr lang="en-US" sz="1200" dirty="0">
                <a:solidFill>
                  <a:srgbClr val="3E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el jefe de turno que conoce la línea y comparte sus códigos.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81944" y="3122613"/>
            <a:ext cx="2323331" cy="6196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3E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Franquicia:</a:t>
            </a:r>
            <a:r>
              <a:rPr lang="en-US" sz="1200" dirty="0">
                <a:solidFill>
                  <a:srgbClr val="3E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el encargado que atiende el mostrador en hora pico.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38525" y="1737872"/>
            <a:ext cx="2590800" cy="2167555"/>
          </a:xfrm>
          <a:prstGeom prst="roundRect">
            <a:avLst>
              <a:gd name="adj" fmla="val 3369"/>
            </a:avLst>
          </a:prstGeom>
          <a:solidFill>
            <a:srgbClr val="FFFDF9"/>
          </a:solidFill>
          <a:ln w="6350">
            <a:solidFill>
              <a:srgbClr val="DED6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3606095" y="1905441"/>
            <a:ext cx="2323331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450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 · Promoción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06095" y="2182283"/>
            <a:ext cx="2323331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25"/>
              </a:lnSpc>
              <a:buNone/>
            </a:pPr>
            <a:r>
              <a:rPr lang="en-US" sz="1500" b="1" dirty="0">
                <a:solidFill>
                  <a:srgbClr val="1E2A3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Hacerlo por nosotros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06095" y="2464858"/>
            <a:ext cx="2323331" cy="6196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3E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Planta:</a:t>
            </a:r>
            <a:r>
              <a:rPr lang="en-US" sz="1200" dirty="0">
                <a:solidFill>
                  <a:srgbClr val="3E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defender a la dotación ante la gerencia, no la carrera propia.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06095" y="3122613"/>
            <a:ext cx="2323331" cy="6196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3E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Franquicia:</a:t>
            </a:r>
            <a:r>
              <a:rPr lang="en-US" sz="1200" dirty="0">
                <a:solidFill>
                  <a:srgbClr val="3E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dar la cara por el equipo ante franquiciado y central.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62675" y="1737872"/>
            <a:ext cx="2590800" cy="2167555"/>
          </a:xfrm>
          <a:prstGeom prst="roundRect">
            <a:avLst>
              <a:gd name="adj" fmla="val 3369"/>
            </a:avLst>
          </a:prstGeom>
          <a:solidFill>
            <a:srgbClr val="FFFDF9"/>
          </a:solidFill>
          <a:ln w="6350">
            <a:solidFill>
              <a:srgbClr val="DED6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330245" y="1905441"/>
            <a:ext cx="2323331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C5D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 · Emprendimiento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30245" y="2182283"/>
            <a:ext cx="2323331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25"/>
              </a:lnSpc>
              <a:buNone/>
            </a:pPr>
            <a:r>
              <a:rPr lang="en-US" sz="1500" b="1" dirty="0">
                <a:solidFill>
                  <a:srgbClr val="1E2A3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Construir el nosotros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30245" y="2464858"/>
            <a:ext cx="2323331" cy="421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3E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Planta:</a:t>
            </a:r>
            <a:r>
              <a:rPr lang="en-US" sz="1200" dirty="0">
                <a:solidFill>
                  <a:srgbClr val="3E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“somos quienes garantizan la cadena de frío”.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30245" y="2924528"/>
            <a:ext cx="2323331" cy="6196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3E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Franquicia:</a:t>
            </a:r>
            <a:r>
              <a:rPr lang="en-US" sz="1200" dirty="0">
                <a:solidFill>
                  <a:srgbClr val="3E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un relato común planta–local–cliente: una sola red.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886825" y="1737872"/>
            <a:ext cx="2590800" cy="2167555"/>
          </a:xfrm>
          <a:prstGeom prst="roundRect">
            <a:avLst>
              <a:gd name="adj" fmla="val 3369"/>
            </a:avLst>
          </a:prstGeom>
          <a:solidFill>
            <a:srgbClr val="FFFDF9"/>
          </a:solidFill>
          <a:ln w="6350">
            <a:solidFill>
              <a:srgbClr val="DED6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9054395" y="1905441"/>
            <a:ext cx="2323331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C5D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 · Impresariado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054395" y="2182283"/>
            <a:ext cx="2323331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25"/>
              </a:lnSpc>
              <a:buNone/>
            </a:pPr>
            <a:r>
              <a:rPr lang="en-US" sz="1500" b="1" dirty="0">
                <a:solidFill>
                  <a:srgbClr val="1E2A3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Hacer que el nosotros importe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054395" y="2683933"/>
            <a:ext cx="2323331" cy="421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3E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Planta:</a:t>
            </a:r>
            <a:r>
              <a:rPr lang="en-US" sz="1200" dirty="0">
                <a:solidFill>
                  <a:srgbClr val="3E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tableros, rituales de turno y logros visibles.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054395" y="3143603"/>
            <a:ext cx="2323331" cy="6196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3E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Franquicia:</a:t>
            </a:r>
            <a:r>
              <a:rPr lang="en-US" sz="1200" dirty="0">
                <a:solidFill>
                  <a:srgbClr val="3E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briefing diario, reconocimiento grupal y metas compartidas.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1200" y="4061001"/>
            <a:ext cx="3505200" cy="650169"/>
          </a:xfrm>
          <a:prstGeom prst="roundRect">
            <a:avLst>
              <a:gd name="adj" fmla="val 11720"/>
            </a:avLst>
          </a:prstGeom>
          <a:solidFill>
            <a:srgbClr val="1E2A3A"/>
          </a:solidFill>
          <a:ln/>
        </p:spPr>
        <p:txBody>
          <a:bodyPr wrap="square" lIns="130082" tIns="104682" rIns="34070" bIns="79282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2A6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Poder:</a:t>
            </a:r>
            <a:r>
              <a:rPr lang="en-US" sz="1200" dirty="0">
                <a:solidFill>
                  <a:srgbClr val="E9E4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influir “a través de” el grupo, no “sobre” él; la coerción rompe el nosotros.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43400" y="4061001"/>
            <a:ext cx="3505200" cy="650169"/>
          </a:xfrm>
          <a:prstGeom prst="roundRect">
            <a:avLst>
              <a:gd name="adj" fmla="val 11720"/>
            </a:avLst>
          </a:prstGeom>
          <a:solidFill>
            <a:srgbClr val="1E2A3A"/>
          </a:solidFill>
          <a:ln/>
        </p:spPr>
        <p:txBody>
          <a:bodyPr wrap="square" lIns="130082" tIns="104682" rIns="34070" bIns="79282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2A6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Justicia:</a:t>
            </a:r>
            <a:r>
              <a:rPr lang="en-US" sz="1200" dirty="0">
                <a:solidFill>
                  <a:srgbClr val="E9E4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el trato justo dentro del grupo comunica respeto y pertenencia.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975600" y="4061001"/>
            <a:ext cx="3505200" cy="650169"/>
          </a:xfrm>
          <a:prstGeom prst="roundRect">
            <a:avLst>
              <a:gd name="adj" fmla="val 11720"/>
            </a:avLst>
          </a:prstGeom>
          <a:solidFill>
            <a:srgbClr val="1E2A3A"/>
          </a:solidFill>
          <a:ln/>
        </p:spPr>
        <p:txBody>
          <a:bodyPr wrap="square" lIns="130082" tIns="104682" rIns="34070" bIns="79282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2A6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Seguidores:</a:t>
            </a:r>
            <a:r>
              <a:rPr lang="en-US" sz="1200" dirty="0">
                <a:solidFill>
                  <a:srgbClr val="E9E4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el carisma lo otorga el grupo cuando el líder lo representa.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1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711200" y="457200"/>
            <a:ext cx="11092688" cy="3885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E2A3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Qué psicología predomina hoy y cuál debe predominar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11200" y="960085"/>
            <a:ext cx="11092688" cy="471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3E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Mecanismo (autocategorización):</a:t>
            </a:r>
            <a:r>
              <a:rPr lang="en-US" sz="1300" dirty="0">
                <a:solidFill>
                  <a:srgbClr val="3E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el equipo evalúa al encargado según cuánto se parece a “nosotros”. Si queda del lado de “ellos”, sus órdenes se cumplen a desgano aunque sean correctas.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11200" y="1551164"/>
            <a:ext cx="10769600" cy="0"/>
          </a:xfrm>
          <a:prstGeom prst="line">
            <a:avLst/>
          </a:prstGeom>
          <a:noFill/>
          <a:ln w="11289">
            <a:solidFill>
              <a:srgbClr val="141413">
                <a:alpha val="2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16844" y="1545520"/>
            <a:ext cx="0" cy="2338652"/>
          </a:xfrm>
          <a:prstGeom prst="line">
            <a:avLst/>
          </a:prstGeom>
          <a:noFill/>
          <a:ln w="11289">
            <a:solidFill>
              <a:srgbClr val="141413">
                <a:alpha val="2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4089" y="1620309"/>
          <a:ext cx="10555110" cy="2200363"/>
        </p:xfrm>
        <a:graphic>
          <a:graphicData uri="http://schemas.openxmlformats.org/drawingml/2006/table">
            <a:tbl>
              <a:tblPr/>
              <a:tblGrid>
                <a:gridCol w="232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64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64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117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7F4E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Dimensión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C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C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2A65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Hoy: vieja psicología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1C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C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9CC3E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Debe predominar: nueva psicología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1C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C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17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Fuente de influencia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El cargo: “soy el encargado, se hace así”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 identidad compartida: “así trabajamos nosotros”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4513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Imagen del líder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Individuo excepcional que trae la receta (mito del “gran hombre”)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Miembro que representa lo mejor del grupo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17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Uso del poder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Poder “sobre”: control, premio y castigo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Poder “a través de”: el grupo se autorregula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117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Rol del equipo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Subordinados que ejecutan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Seguidores activos que co-construyen el liderazgo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117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Resultado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Obediencia mínima o resistencia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Influencia y esfuerzo voluntario extra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11200" y="4023871"/>
            <a:ext cx="10769600" cy="683154"/>
          </a:xfrm>
          <a:prstGeom prst="roundRect">
            <a:avLst>
              <a:gd name="adj" fmla="val 11154"/>
            </a:avLst>
          </a:prstGeom>
          <a:solidFill>
            <a:srgbClr val="1E2A3A"/>
          </a:solidFill>
          <a:ln/>
        </p:spPr>
        <p:txBody>
          <a:bodyPr wrap="square" lIns="155482" tIns="104682" rIns="0" bIns="79282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F2A6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Implicancia:</a:t>
            </a:r>
            <a:r>
              <a:rPr lang="en-US" sz="1300" dirty="0">
                <a:solidFill>
                  <a:srgbClr val="E9E4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no alcanza con corregir conductas del encargado; hay que cambiar su modelo mental, de “jefe que manda” a </a:t>
            </a:r>
            <a:r>
              <a:rPr lang="en-US" sz="1300" b="1" dirty="0">
                <a:solidFill>
                  <a:srgbClr val="E9E4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emprendedor de identidad</a:t>
            </a:r>
            <a:r>
              <a:rPr lang="en-US" sz="1300" dirty="0">
                <a:solidFill>
                  <a:srgbClr val="E9E4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que construye un nosotros.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5950" y="3752850"/>
            <a:ext cx="8356600" cy="190500"/>
          </a:xfrm>
          <a:prstGeom prst="rect">
            <a:avLst/>
          </a:prstGeom>
        </p:spPr>
      </p:pic>
      <p:pic>
        <p:nvPicPr>
          <p:cNvPr id="3" name="Image 1" descr="connector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898650" y="3429000"/>
            <a:ext cx="546100" cy="469900"/>
          </a:xfrm>
          <a:prstGeom prst="rect">
            <a:avLst/>
          </a:prstGeom>
        </p:spPr>
      </p:pic>
      <p:pic>
        <p:nvPicPr>
          <p:cNvPr id="4" name="Image 2" descr="connector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91050" y="3429000"/>
            <a:ext cx="546100" cy="469900"/>
          </a:xfrm>
          <a:prstGeom prst="rect">
            <a:avLst/>
          </a:prstGeom>
        </p:spPr>
      </p:pic>
      <p:pic>
        <p:nvPicPr>
          <p:cNvPr id="5" name="Image 3" descr="connector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283450" y="3429000"/>
            <a:ext cx="546100" cy="469900"/>
          </a:xfrm>
          <a:prstGeom prst="rect">
            <a:avLst/>
          </a:prstGeom>
        </p:spPr>
      </p:pic>
      <p:pic>
        <p:nvPicPr>
          <p:cNvPr id="6" name="Image 4" descr="connector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898650" y="3797300"/>
            <a:ext cx="546100" cy="469900"/>
          </a:xfrm>
          <a:prstGeom prst="rect">
            <a:avLst/>
          </a:prstGeom>
        </p:spPr>
      </p:pic>
      <p:pic>
        <p:nvPicPr>
          <p:cNvPr id="7" name="Image 5" descr="connector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591050" y="3797300"/>
            <a:ext cx="546100" cy="469900"/>
          </a:xfrm>
          <a:prstGeom prst="rect">
            <a:avLst/>
          </a:prstGeom>
        </p:spPr>
      </p:pic>
      <p:pic>
        <p:nvPicPr>
          <p:cNvPr id="8" name="Image 6" descr="connector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283450" y="3797300"/>
            <a:ext cx="546100" cy="469900"/>
          </a:xfrm>
          <a:prstGeom prst="rect">
            <a:avLst/>
          </a:prstGeom>
        </p:spPr>
      </p:pic>
      <p:sp>
        <p:nvSpPr>
          <p:cNvPr id="9" name="Text 0"/>
          <p:cNvSpPr>
            <a:spLocks noGrp="1"/>
          </p:cNvSpPr>
          <p:nvPr>
            <p:ph type="title"/>
          </p:nvPr>
        </p:nvSpPr>
        <p:spPr>
          <a:xfrm>
            <a:off x="711200" y="330200"/>
            <a:ext cx="11092688" cy="3885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E2A3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Caso “El encargado al que nadie sigue”: Ishikawa con hipótesis</a:t>
            </a:r>
            <a:endParaRPr lang="en-US" sz="2600" dirty="0"/>
          </a:p>
        </p:txBody>
      </p:sp>
      <p:sp>
        <p:nvSpPr>
          <p:cNvPr id="10" name="Text 1"/>
          <p:cNvSpPr/>
          <p:nvPr/>
        </p:nvSpPr>
        <p:spPr>
          <a:xfrm>
            <a:off x="711200" y="800100"/>
            <a:ext cx="11092688" cy="471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3E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Local Grido en temporada alta. El franquiciado incorpora un encargado externo, ex gerente de retail. En semanas: renuncias, demoras, quiebres de stock y roces con el reparto de planta.</a:t>
            </a:r>
            <a:endParaRPr lang="en-US" sz="1300" dirty="0"/>
          </a:p>
        </p:txBody>
      </p:sp>
      <p:sp>
        <p:nvSpPr>
          <p:cNvPr id="11" name="Shape 2"/>
          <p:cNvSpPr/>
          <p:nvPr/>
        </p:nvSpPr>
        <p:spPr>
          <a:xfrm>
            <a:off x="714375" y="1527175"/>
            <a:ext cx="2470150" cy="1264620"/>
          </a:xfrm>
          <a:prstGeom prst="roundRect">
            <a:avLst>
              <a:gd name="adj" fmla="val 4770"/>
            </a:avLst>
          </a:prstGeom>
          <a:solidFill>
            <a:srgbClr val="FFFDF9"/>
          </a:solidFill>
          <a:ln w="6350">
            <a:solidFill>
              <a:srgbClr val="DED6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3"/>
          <p:cNvSpPr/>
          <p:nvPr/>
        </p:nvSpPr>
        <p:spPr>
          <a:xfrm>
            <a:off x="843844" y="1618545"/>
            <a:ext cx="2277547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450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PERSONAS · Prototipicidad</a:t>
            </a:r>
            <a:endParaRPr lang="en-US" sz="1200" dirty="0"/>
          </a:p>
        </p:txBody>
      </p:sp>
      <p:sp>
        <p:nvSpPr>
          <p:cNvPr id="13" name="Text 4"/>
          <p:cNvSpPr/>
          <p:nvPr/>
        </p:nvSpPr>
        <p:spPr>
          <a:xfrm>
            <a:off x="843844" y="1869987"/>
            <a:ext cx="2277547" cy="421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E2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H1:</a:t>
            </a:r>
            <a:r>
              <a:rPr lang="en-US" sz="1200" dirty="0">
                <a:solidFill>
                  <a:srgbClr val="1E2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no lo ven como “uno de nosotros”</a:t>
            </a:r>
            <a:endParaRPr lang="en-US" sz="1200" dirty="0"/>
          </a:p>
        </p:txBody>
      </p:sp>
      <p:sp>
        <p:nvSpPr>
          <p:cNvPr id="14" name="Text 5"/>
          <p:cNvSpPr/>
          <p:nvPr/>
        </p:nvSpPr>
        <p:spPr>
          <a:xfrm>
            <a:off x="843844" y="2304256"/>
            <a:ext cx="2277547" cy="421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i="1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Verificar:</a:t>
            </a: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¿atiende en pico? ¿quién es el referente real?</a:t>
            </a:r>
            <a:endParaRPr lang="en-US" sz="1200" dirty="0"/>
          </a:p>
        </p:txBody>
      </p:sp>
      <p:sp>
        <p:nvSpPr>
          <p:cNvPr id="15" name="Shape 6"/>
          <p:cNvSpPr/>
          <p:nvPr/>
        </p:nvSpPr>
        <p:spPr>
          <a:xfrm>
            <a:off x="3406775" y="1527175"/>
            <a:ext cx="2470150" cy="1264620"/>
          </a:xfrm>
          <a:prstGeom prst="roundRect">
            <a:avLst>
              <a:gd name="adj" fmla="val 4770"/>
            </a:avLst>
          </a:prstGeom>
          <a:solidFill>
            <a:srgbClr val="FFFDF9"/>
          </a:solidFill>
          <a:ln w="6350">
            <a:solidFill>
              <a:srgbClr val="DED6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7"/>
          <p:cNvSpPr/>
          <p:nvPr/>
        </p:nvSpPr>
        <p:spPr>
          <a:xfrm>
            <a:off x="3536245" y="1618545"/>
            <a:ext cx="2277547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450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MÉTODO · Justicia</a:t>
            </a:r>
            <a:endParaRPr lang="en-US" sz="1200" dirty="0"/>
          </a:p>
        </p:txBody>
      </p:sp>
      <p:sp>
        <p:nvSpPr>
          <p:cNvPr id="17" name="Text 8"/>
          <p:cNvSpPr/>
          <p:nvPr/>
        </p:nvSpPr>
        <p:spPr>
          <a:xfrm>
            <a:off x="3536245" y="1869987"/>
            <a:ext cx="2277547" cy="421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E2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H2:</a:t>
            </a:r>
            <a:r>
              <a:rPr lang="en-US" sz="1200" dirty="0">
                <a:solidFill>
                  <a:srgbClr val="1E2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decide sin dar voz ni explicar</a:t>
            </a:r>
            <a:endParaRPr lang="en-US" sz="1200" dirty="0"/>
          </a:p>
        </p:txBody>
      </p:sp>
      <p:sp>
        <p:nvSpPr>
          <p:cNvPr id="18" name="Text 9"/>
          <p:cNvSpPr/>
          <p:nvPr/>
        </p:nvSpPr>
        <p:spPr>
          <a:xfrm>
            <a:off x="3536245" y="2304256"/>
            <a:ext cx="2277547" cy="421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i="1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Verificar:</a:t>
            </a: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cambios de turno sin consulta; quejas de trato</a:t>
            </a:r>
            <a:endParaRPr lang="en-US" sz="1200" dirty="0"/>
          </a:p>
        </p:txBody>
      </p:sp>
      <p:sp>
        <p:nvSpPr>
          <p:cNvPr id="19" name="Shape 10"/>
          <p:cNvSpPr/>
          <p:nvPr/>
        </p:nvSpPr>
        <p:spPr>
          <a:xfrm>
            <a:off x="6099175" y="1527175"/>
            <a:ext cx="2470150" cy="1264620"/>
          </a:xfrm>
          <a:prstGeom prst="roundRect">
            <a:avLst>
              <a:gd name="adj" fmla="val 4770"/>
            </a:avLst>
          </a:prstGeom>
          <a:solidFill>
            <a:srgbClr val="FFFDF9"/>
          </a:solidFill>
          <a:ln w="6350">
            <a:solidFill>
              <a:srgbClr val="DED6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1"/>
          <p:cNvSpPr/>
          <p:nvPr/>
        </p:nvSpPr>
        <p:spPr>
          <a:xfrm>
            <a:off x="6228645" y="1618545"/>
            <a:ext cx="2277547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450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GESTIÓN · Poder “sobre”</a:t>
            </a:r>
            <a:endParaRPr lang="en-US" sz="1200" dirty="0"/>
          </a:p>
        </p:txBody>
      </p:sp>
      <p:sp>
        <p:nvSpPr>
          <p:cNvPr id="21" name="Text 12"/>
          <p:cNvSpPr/>
          <p:nvPr/>
        </p:nvSpPr>
        <p:spPr>
          <a:xfrm>
            <a:off x="6228645" y="1869987"/>
            <a:ext cx="2277547" cy="421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E2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H3:</a:t>
            </a:r>
            <a:r>
              <a:rPr lang="en-US" sz="1200" dirty="0">
                <a:solidFill>
                  <a:srgbClr val="1E2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gestiona con control y sanción</a:t>
            </a:r>
            <a:endParaRPr lang="en-US" sz="1200" dirty="0"/>
          </a:p>
        </p:txBody>
      </p:sp>
      <p:sp>
        <p:nvSpPr>
          <p:cNvPr id="22" name="Text 13"/>
          <p:cNvSpPr/>
          <p:nvPr/>
        </p:nvSpPr>
        <p:spPr>
          <a:xfrm>
            <a:off x="6228645" y="2304256"/>
            <a:ext cx="2277547" cy="421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i="1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Verificar:</a:t>
            </a: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sanciones públicas; obediencia sin iniciativa</a:t>
            </a:r>
            <a:endParaRPr lang="en-US" sz="1200" dirty="0"/>
          </a:p>
        </p:txBody>
      </p:sp>
      <p:sp>
        <p:nvSpPr>
          <p:cNvPr id="23" name="Shape 14"/>
          <p:cNvSpPr/>
          <p:nvPr/>
        </p:nvSpPr>
        <p:spPr>
          <a:xfrm>
            <a:off x="714375" y="4219575"/>
            <a:ext cx="2470150" cy="1066535"/>
          </a:xfrm>
          <a:prstGeom prst="roundRect">
            <a:avLst>
              <a:gd name="adj" fmla="val 5656"/>
            </a:avLst>
          </a:prstGeom>
          <a:solidFill>
            <a:srgbClr val="FFFDF9"/>
          </a:solidFill>
          <a:ln w="6350">
            <a:solidFill>
              <a:srgbClr val="DED6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5"/>
          <p:cNvSpPr/>
          <p:nvPr/>
        </p:nvSpPr>
        <p:spPr>
          <a:xfrm>
            <a:off x="843844" y="4310945"/>
            <a:ext cx="2277547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C5D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ENTORNO · Intergrupal</a:t>
            </a:r>
            <a:endParaRPr lang="en-US" sz="1200" dirty="0"/>
          </a:p>
        </p:txBody>
      </p:sp>
      <p:sp>
        <p:nvSpPr>
          <p:cNvPr id="25" name="Text 16"/>
          <p:cNvSpPr/>
          <p:nvPr/>
        </p:nvSpPr>
        <p:spPr>
          <a:xfrm>
            <a:off x="843844" y="4562387"/>
            <a:ext cx="2337506" cy="2234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E2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H4:</a:t>
            </a:r>
            <a:r>
              <a:rPr lang="en-US" sz="1200" dirty="0">
                <a:solidFill>
                  <a:srgbClr val="1E2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planta y reparto son “ellos”</a:t>
            </a:r>
            <a:endParaRPr lang="en-US" sz="1200" dirty="0"/>
          </a:p>
        </p:txBody>
      </p:sp>
      <p:sp>
        <p:nvSpPr>
          <p:cNvPr id="26" name="Text 17"/>
          <p:cNvSpPr/>
          <p:nvPr/>
        </p:nvSpPr>
        <p:spPr>
          <a:xfrm>
            <a:off x="843844" y="4798572"/>
            <a:ext cx="2277547" cy="421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i="1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Verificar:</a:t>
            </a: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lenguaje de culpa; reclamos cruzados</a:t>
            </a:r>
            <a:endParaRPr lang="en-US" sz="1200" dirty="0"/>
          </a:p>
        </p:txBody>
      </p:sp>
      <p:sp>
        <p:nvSpPr>
          <p:cNvPr id="27" name="Shape 18"/>
          <p:cNvSpPr/>
          <p:nvPr/>
        </p:nvSpPr>
        <p:spPr>
          <a:xfrm>
            <a:off x="3406775" y="4219575"/>
            <a:ext cx="2470150" cy="1264620"/>
          </a:xfrm>
          <a:prstGeom prst="roundRect">
            <a:avLst>
              <a:gd name="adj" fmla="val 4770"/>
            </a:avLst>
          </a:prstGeom>
          <a:solidFill>
            <a:srgbClr val="FFFDF9"/>
          </a:solidFill>
          <a:ln w="6350">
            <a:solidFill>
              <a:srgbClr val="DED6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19"/>
          <p:cNvSpPr/>
          <p:nvPr/>
        </p:nvSpPr>
        <p:spPr>
          <a:xfrm>
            <a:off x="3536245" y="4310945"/>
            <a:ext cx="2277547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C5D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RECURSOS · Promoción</a:t>
            </a:r>
            <a:endParaRPr lang="en-US" sz="1200" dirty="0"/>
          </a:p>
        </p:txBody>
      </p:sp>
      <p:sp>
        <p:nvSpPr>
          <p:cNvPr id="29" name="Text 20"/>
          <p:cNvSpPr/>
          <p:nvPr/>
        </p:nvSpPr>
        <p:spPr>
          <a:xfrm>
            <a:off x="3536245" y="4562387"/>
            <a:ext cx="2277547" cy="421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E2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H5:</a:t>
            </a:r>
            <a:r>
              <a:rPr lang="en-US" sz="1200" dirty="0">
                <a:solidFill>
                  <a:srgbClr val="1E2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no defiende al equipo ante faltantes</a:t>
            </a:r>
            <a:endParaRPr lang="en-US" sz="1200" dirty="0"/>
          </a:p>
        </p:txBody>
      </p:sp>
      <p:sp>
        <p:nvSpPr>
          <p:cNvPr id="30" name="Text 21"/>
          <p:cNvSpPr/>
          <p:nvPr/>
        </p:nvSpPr>
        <p:spPr>
          <a:xfrm>
            <a:off x="3536245" y="4996656"/>
            <a:ext cx="2277547" cy="421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i="1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Verificar:</a:t>
            </a: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¿a quién culpa ante el dueño?</a:t>
            </a:r>
            <a:endParaRPr lang="en-US" sz="1200" dirty="0"/>
          </a:p>
        </p:txBody>
      </p:sp>
      <p:sp>
        <p:nvSpPr>
          <p:cNvPr id="31" name="Shape 22"/>
          <p:cNvSpPr/>
          <p:nvPr/>
        </p:nvSpPr>
        <p:spPr>
          <a:xfrm>
            <a:off x="6099175" y="4219575"/>
            <a:ext cx="2470150" cy="1264620"/>
          </a:xfrm>
          <a:prstGeom prst="roundRect">
            <a:avLst>
              <a:gd name="adj" fmla="val 4770"/>
            </a:avLst>
          </a:prstGeom>
          <a:solidFill>
            <a:srgbClr val="FFFDF9"/>
          </a:solidFill>
          <a:ln w="6350">
            <a:solidFill>
              <a:srgbClr val="DED6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3"/>
          <p:cNvSpPr/>
          <p:nvPr/>
        </p:nvSpPr>
        <p:spPr>
          <a:xfrm>
            <a:off x="6228645" y="4310945"/>
            <a:ext cx="2277547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C5D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COMUNICACIÓN · Relato</a:t>
            </a:r>
            <a:endParaRPr lang="en-US" sz="1200" dirty="0"/>
          </a:p>
        </p:txBody>
      </p:sp>
      <p:sp>
        <p:nvSpPr>
          <p:cNvPr id="33" name="Text 24"/>
          <p:cNvSpPr/>
          <p:nvPr/>
        </p:nvSpPr>
        <p:spPr>
          <a:xfrm>
            <a:off x="6228645" y="4562387"/>
            <a:ext cx="2277547" cy="421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E2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H6:</a:t>
            </a:r>
            <a:r>
              <a:rPr lang="en-US" sz="1200" dirty="0">
                <a:solidFill>
                  <a:srgbClr val="1E2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no hay relato ni rituales del nosotros</a:t>
            </a:r>
            <a:endParaRPr lang="en-US" sz="1200" dirty="0"/>
          </a:p>
        </p:txBody>
      </p:sp>
      <p:sp>
        <p:nvSpPr>
          <p:cNvPr id="34" name="Text 25"/>
          <p:cNvSpPr/>
          <p:nvPr/>
        </p:nvSpPr>
        <p:spPr>
          <a:xfrm>
            <a:off x="6228645" y="4996656"/>
            <a:ext cx="2277547" cy="421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i="1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Verificar:</a:t>
            </a: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sin briefing; órdenes por WhatsApp</a:t>
            </a:r>
            <a:endParaRPr lang="en-US" sz="1200" dirty="0"/>
          </a:p>
        </p:txBody>
      </p:sp>
      <p:sp>
        <p:nvSpPr>
          <p:cNvPr id="35" name="Shape 26"/>
          <p:cNvSpPr/>
          <p:nvPr/>
        </p:nvSpPr>
        <p:spPr>
          <a:xfrm>
            <a:off x="8953500" y="2413000"/>
            <a:ext cx="2527300" cy="2235024"/>
          </a:xfrm>
          <a:prstGeom prst="roundRect">
            <a:avLst>
              <a:gd name="adj" fmla="val 3409"/>
            </a:avLst>
          </a:prstGeom>
          <a:solidFill>
            <a:srgbClr val="1E2A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27"/>
          <p:cNvSpPr/>
          <p:nvPr/>
        </p:nvSpPr>
        <p:spPr>
          <a:xfrm>
            <a:off x="9118600" y="2578100"/>
            <a:ext cx="2263013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A6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EFECTO</a:t>
            </a:r>
            <a:endParaRPr lang="en-US" sz="1200" dirty="0"/>
          </a:p>
        </p:txBody>
      </p:sp>
      <p:sp>
        <p:nvSpPr>
          <p:cNvPr id="37" name="Text 28"/>
          <p:cNvSpPr/>
          <p:nvPr/>
        </p:nvSpPr>
        <p:spPr>
          <a:xfrm>
            <a:off x="9118600" y="2867642"/>
            <a:ext cx="2263013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7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Autoridad formal sin influencia</a:t>
            </a:r>
            <a:endParaRPr lang="en-US" sz="1500" dirty="0"/>
          </a:p>
        </p:txBody>
      </p:sp>
      <p:sp>
        <p:nvSpPr>
          <p:cNvPr id="38" name="Text 29"/>
          <p:cNvSpPr/>
          <p:nvPr/>
        </p:nvSpPr>
        <p:spPr>
          <a:xfrm>
            <a:off x="9118600" y="3401042"/>
            <a:ext cx="2263013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A6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CAUSA RAÍZ PROBABLE</a:t>
            </a:r>
            <a:endParaRPr lang="en-US" sz="1200" dirty="0"/>
          </a:p>
        </p:txBody>
      </p:sp>
      <p:sp>
        <p:nvSpPr>
          <p:cNvPr id="39" name="Text 30"/>
          <p:cNvSpPr/>
          <p:nvPr/>
        </p:nvSpPr>
        <p:spPr>
          <a:xfrm>
            <a:off x="9118600" y="3690586"/>
            <a:ext cx="2263013" cy="8177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C9D2D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Quedó fuera del “nosotros” (H1, H5, H6) y lo compensa con poder coercitivo (H2, H3), que agrava la ruptura.</a:t>
            </a:r>
            <a:endParaRPr lang="en-US" sz="1200" dirty="0"/>
          </a:p>
        </p:txBody>
      </p:sp>
      <p:sp>
        <p:nvSpPr>
          <p:cNvPr id="40" name="Text 31"/>
          <p:cNvSpPr/>
          <p:nvPr/>
        </p:nvSpPr>
        <p:spPr>
          <a:xfrm>
            <a:off x="8953500" y="5715000"/>
            <a:ext cx="2603119" cy="421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6A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Caso didáctico ficticio · Ishikawa 6M leído con el libro · 4/8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1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711200" y="457200"/>
            <a:ext cx="11092688" cy="3885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E2A3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Impacto: primero el equipo, después el negocio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11200" y="985486"/>
            <a:ext cx="1869369" cy="365742"/>
          </a:xfrm>
          <a:prstGeom prst="roundRect">
            <a:avLst>
              <a:gd name="adj" fmla="val 17362"/>
            </a:avLst>
          </a:prstGeom>
          <a:solidFill>
            <a:srgbClr val="1E2A3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7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Identidad compartida ↓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656769" y="1026142"/>
            <a:ext cx="254000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B450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936169" y="985486"/>
            <a:ext cx="1869458" cy="365742"/>
          </a:xfrm>
          <a:prstGeom prst="roundRect">
            <a:avLst>
              <a:gd name="adj" fmla="val 17362"/>
            </a:avLst>
          </a:prstGeom>
          <a:solidFill>
            <a:srgbClr val="1E2A3A"/>
          </a:solidFill>
          <a:ln/>
        </p:spPr>
        <p:txBody>
          <a:bodyPr wrap="square" lIns="31846" tIns="57601" rIns="31846" bIns="32201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7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Influencia del líder ↓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81827" y="1026142"/>
            <a:ext cx="254000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B450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161227" y="985486"/>
            <a:ext cx="1869458" cy="365742"/>
          </a:xfrm>
          <a:prstGeom prst="roundRect">
            <a:avLst>
              <a:gd name="adj" fmla="val 17362"/>
            </a:avLst>
          </a:prstGeom>
          <a:solidFill>
            <a:srgbClr val="1E2A3A"/>
          </a:solidFill>
          <a:ln/>
        </p:spPr>
        <p:txBody>
          <a:bodyPr wrap="square" lIns="31846" tIns="57601" rIns="31846" bIns="32201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7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Esfuerzo voluntario 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06885" y="1026142"/>
            <a:ext cx="254000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B450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86285" y="985486"/>
            <a:ext cx="1869458" cy="365742"/>
          </a:xfrm>
          <a:prstGeom prst="roundRect">
            <a:avLst>
              <a:gd name="adj" fmla="val 17362"/>
            </a:avLst>
          </a:prstGeom>
          <a:solidFill>
            <a:srgbClr val="1E2A3A"/>
          </a:solidFill>
          <a:ln/>
        </p:spPr>
        <p:txBody>
          <a:bodyPr wrap="square" lIns="31846" tIns="57601" rIns="31846" bIns="32201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7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Servicio y ejecución 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331943" y="1026142"/>
            <a:ext cx="254000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B450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11343" y="985486"/>
            <a:ext cx="1869458" cy="365742"/>
          </a:xfrm>
          <a:prstGeom prst="roundRect">
            <a:avLst>
              <a:gd name="adj" fmla="val 17362"/>
            </a:avLst>
          </a:prstGeom>
          <a:solidFill>
            <a:srgbClr val="B4501A"/>
          </a:solidFill>
          <a:ln/>
        </p:spPr>
        <p:txBody>
          <a:bodyPr wrap="square" lIns="31846" tIns="57601" rIns="31846" bIns="32201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DF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Resultados ↓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14375" y="1519503"/>
            <a:ext cx="5633420" cy="2686844"/>
          </a:xfrm>
          <a:prstGeom prst="roundRect">
            <a:avLst>
              <a:gd name="adj" fmla="val 2718"/>
            </a:avLst>
          </a:prstGeom>
          <a:solidFill>
            <a:srgbClr val="FFFDF9"/>
          </a:solidFill>
          <a:ln w="6350">
            <a:solidFill>
              <a:srgbClr val="D3D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94644" y="1674372"/>
            <a:ext cx="5431068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B450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Impacto en el equipo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94644" y="1963914"/>
            <a:ext cx="5431068" cy="421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3E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Desidentificación:</a:t>
            </a:r>
            <a:r>
              <a:rPr lang="en-US" sz="1200" dirty="0">
                <a:solidFill>
                  <a:srgbClr val="3E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“hago lo mío y me voy”; desaparece el esfuerzo extra en hora pico.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94644" y="2436284"/>
            <a:ext cx="5431068" cy="421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3E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Fractura interna:</a:t>
            </a:r>
            <a:r>
              <a:rPr lang="en-US" sz="1200" dirty="0">
                <a:solidFill>
                  <a:srgbClr val="3E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veteranos contra nuevos; surge un líder informal que compite con el encargado.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94644" y="2908653"/>
            <a:ext cx="5431068" cy="421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3E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Silencio:</a:t>
            </a:r>
            <a:r>
              <a:rPr lang="en-US" sz="1200" dirty="0">
                <a:solidFill>
                  <a:srgbClr val="3E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por miedo a la sanción nadie avisa problemas; los errores se esconden.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4644" y="3381023"/>
            <a:ext cx="5431068" cy="421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3E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Desgaste:</a:t>
            </a:r>
            <a:r>
              <a:rPr lang="en-US" sz="1200" dirty="0">
                <a:solidFill>
                  <a:srgbClr val="3E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sin un nosotros se pierde el apoyo mutuo que amortigua la presión de temporada.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94644" y="3853391"/>
            <a:ext cx="5431068" cy="2234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3E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Fuga de talento:</a:t>
            </a:r>
            <a:r>
              <a:rPr lang="en-US" sz="1200" dirty="0">
                <a:solidFill>
                  <a:srgbClr val="3E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se van primero los mejores y con ellos el saber del local.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31945" y="1519503"/>
            <a:ext cx="4945680" cy="2686844"/>
          </a:xfrm>
          <a:prstGeom prst="roundRect">
            <a:avLst>
              <a:gd name="adj" fmla="val 2718"/>
            </a:avLst>
          </a:prstGeom>
          <a:solidFill>
            <a:srgbClr val="FFFDF9"/>
          </a:solidFill>
          <a:ln w="6350">
            <a:solidFill>
              <a:srgbClr val="D3D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712214" y="1674372"/>
            <a:ext cx="4722695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C5D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Impacto en el negocio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12214" y="1963914"/>
            <a:ext cx="4722695" cy="2234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3E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Ventas perdidas</a:t>
            </a:r>
            <a:r>
              <a:rPr lang="en-US" sz="1200" dirty="0">
                <a:solidFill>
                  <a:srgbClr val="3E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por demoras y abandono de la fila en hora pico.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12214" y="2238198"/>
            <a:ext cx="4722695" cy="2234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3E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Costo de rotación:</a:t>
            </a:r>
            <a:r>
              <a:rPr lang="en-US" sz="1200" dirty="0">
                <a:solidFill>
                  <a:srgbClr val="3E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reclutar, capacitar y curva de aprendizaje.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12214" y="2512484"/>
            <a:ext cx="4722695" cy="2234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3E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Quiebres y urgencias</a:t>
            </a:r>
            <a:r>
              <a:rPr lang="en-US" sz="1200" dirty="0">
                <a:solidFill>
                  <a:srgbClr val="3E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 planta: más merma y costo logístico.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12214" y="2786768"/>
            <a:ext cx="4722695" cy="2234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3E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Experiencia del cliente</a:t>
            </a:r>
            <a:r>
              <a:rPr lang="en-US" sz="1200" dirty="0">
                <a:solidFill>
                  <a:srgbClr val="3E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y auditorías de marca en baja.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12214" y="3061053"/>
            <a:ext cx="4722695" cy="2234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3E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Dueño desbordado:</a:t>
            </a:r>
            <a:r>
              <a:rPr lang="en-US" sz="1200" dirty="0">
                <a:solidFill>
                  <a:srgbClr val="3E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todo escala a él y deja de gestionar.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11200" y="6289058"/>
            <a:ext cx="11092688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Hipótesis de impacto a cuantificar con datos reales del local: [__] · 5/8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711200" y="457200"/>
            <a:ext cx="11092688" cy="3885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E2A3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A3: de la causa raíz al programa 5R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14375" y="975959"/>
            <a:ext cx="3422650" cy="578908"/>
          </a:xfrm>
          <a:prstGeom prst="roundRect">
            <a:avLst>
              <a:gd name="adj" fmla="val 10420"/>
            </a:avLst>
          </a:prstGeom>
          <a:solidFill>
            <a:srgbClr val="FFFDF9"/>
          </a:solidFill>
          <a:ln w="6350">
            <a:solidFill>
              <a:srgbClr val="DED6C8"/>
            </a:solidFill>
            <a:prstDash val="solid"/>
          </a:ln>
        </p:spPr>
        <p:txBody>
          <a:bodyPr wrap="square" lIns="111801" tIns="73701" rIns="16889" bIns="48301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3E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· Contexto:</a:t>
            </a:r>
            <a:r>
              <a:rPr lang="en-US" sz="1200" dirty="0">
                <a:solidFill>
                  <a:srgbClr val="3E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temporada alta; encargado externo nuevo; equipo con historia propia.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4375" y="1637419"/>
            <a:ext cx="3422650" cy="776993"/>
          </a:xfrm>
          <a:prstGeom prst="roundRect">
            <a:avLst>
              <a:gd name="adj" fmla="val 7764"/>
            </a:avLst>
          </a:prstGeom>
          <a:solidFill>
            <a:srgbClr val="FFFDF9"/>
          </a:solidFill>
          <a:ln w="6350">
            <a:solidFill>
              <a:srgbClr val="DED6C8"/>
            </a:solidFill>
            <a:prstDash val="solid"/>
          </a:ln>
        </p:spPr>
        <p:txBody>
          <a:bodyPr wrap="square" lIns="111801" tIns="73701" rIns="16889" bIns="48301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3E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· Situación actual:</a:t>
            </a:r>
            <a:r>
              <a:rPr lang="en-US" sz="1200" dirty="0">
                <a:solidFill>
                  <a:srgbClr val="3E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autoridad sin influencia; renuncias, demoras, quiebres, roces con reparto.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4375" y="2496961"/>
            <a:ext cx="3422650" cy="776993"/>
          </a:xfrm>
          <a:prstGeom prst="roundRect">
            <a:avLst>
              <a:gd name="adj" fmla="val 7764"/>
            </a:avLst>
          </a:prstGeom>
          <a:solidFill>
            <a:srgbClr val="FFFDF9"/>
          </a:solidFill>
          <a:ln w="6350">
            <a:solidFill>
              <a:srgbClr val="DED6C8"/>
            </a:solidFill>
            <a:prstDash val="solid"/>
          </a:ln>
        </p:spPr>
        <p:txBody>
          <a:bodyPr wrap="square" lIns="111801" tIns="73701" rIns="16889" bIns="48301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3E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· Objetivo:</a:t>
            </a:r>
            <a:r>
              <a:rPr lang="en-US" sz="1200" dirty="0">
                <a:solidFill>
                  <a:srgbClr val="3E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recuperar influencia legítima en [__] semanas: rotación ≤ [__], demora ≤ [__], ILI ≥ [__].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11200" y="3353330"/>
            <a:ext cx="3429000" cy="772054"/>
          </a:xfrm>
          <a:prstGeom prst="roundRect">
            <a:avLst>
              <a:gd name="adj" fmla="val 8225"/>
            </a:avLst>
          </a:prstGeom>
          <a:solidFill>
            <a:srgbClr val="1E2A3A"/>
          </a:solidFill>
          <a:ln/>
        </p:spPr>
        <p:txBody>
          <a:bodyPr wrap="square" lIns="108401" tIns="70301" rIns="13151" bIns="44901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2A6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· Causa raíz:</a:t>
            </a:r>
            <a:r>
              <a:rPr lang="en-US" sz="1200" dirty="0">
                <a:solidFill>
                  <a:srgbClr val="E9E4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el encargado quedó fuera del “nosotros” y lo compensa con poder coercitivo.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18000" y="972784"/>
            <a:ext cx="7377684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C5D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 · CONTRAMEDIDAS (programa 5R)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18000" y="1255271"/>
            <a:ext cx="7162800" cy="0"/>
          </a:xfrm>
          <a:prstGeom prst="line">
            <a:avLst/>
          </a:prstGeom>
          <a:noFill/>
          <a:ln w="11289">
            <a:solidFill>
              <a:srgbClr val="141413">
                <a:alpha val="2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323644" y="1249626"/>
            <a:ext cx="0" cy="3166622"/>
          </a:xfrm>
          <a:prstGeom prst="line">
            <a:avLst/>
          </a:prstGeom>
          <a:noFill/>
          <a:ln w="11289">
            <a:solidFill>
              <a:srgbClr val="141413">
                <a:alpha val="2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18189" y="1311715"/>
          <a:ext cx="6973710" cy="3053735"/>
        </p:xfrm>
        <a:graphic>
          <a:graphicData uri="http://schemas.openxmlformats.org/drawingml/2006/table">
            <a:tbl>
              <a:tblPr/>
              <a:tblGrid>
                <a:gridCol w="15342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73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2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117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7F4E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Paso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C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C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7F4E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Acción real en local / planta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1C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C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2A65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Concepto del libro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1C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C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4513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Readying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El dueño presenta el plan; el encargado asume que su tarea es construir el nosotros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Liderazgo como proceso de grupo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4513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Reflecting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0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Taller de 60 min: ¿quiénes somos, qué nos enorgullece, qué nos frustra?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0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Emprendimiento de identidad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0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4513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Representing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Encargado en mostrador en pico; metas de equipo, no individuales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Prototipicidad y promoción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4513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Realizing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0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Briefing de 10 min, tablero del equipo; defiende al equipo ante planta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0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Impresariado; poder “a través de”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0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4513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Pulso ILI cada [__] semanas; reunión mensual local–planta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A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Justicia; un nosotros de red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D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11200" y="6290000"/>
            <a:ext cx="107696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6A7280"/>
                </a:solidFill>
                <a:latin typeface="IBM Plex Sans"/>
              </a:rPr>
              <a:t>ILI = Identity Leadership Inventory: encuesta breve al equipo sobre su líder. Ver referencia en la slide 7.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1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711200" y="457200"/>
            <a:ext cx="11092688" cy="3885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E2A3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Detección temprana y seguimiento (A3 · 6)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14375" y="975959"/>
            <a:ext cx="3481917" cy="2463359"/>
          </a:xfrm>
          <a:prstGeom prst="roundRect">
            <a:avLst>
              <a:gd name="adj" fmla="val 2964"/>
            </a:avLst>
          </a:prstGeom>
          <a:solidFill>
            <a:srgbClr val="FFFDF9"/>
          </a:solidFill>
          <a:ln w="6350">
            <a:solidFill>
              <a:srgbClr val="D3D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881944" y="1118130"/>
            <a:ext cx="3241181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B450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Señales: qué escuchar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81944" y="1394972"/>
            <a:ext cx="3241181" cy="2234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3E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Se dice “él” o “ellos” en vez de “nosotros”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81944" y="1656556"/>
            <a:ext cx="3241181" cy="2234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3E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Silencio en reuniones; nadie avisa errores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81944" y="1918140"/>
            <a:ext cx="3241181" cy="2234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3E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Cumplimiento justo, sin iniciativa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81944" y="2179727"/>
            <a:ext cx="3241181" cy="2234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3E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El equipo consulta a un referente informal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1944" y="2441311"/>
            <a:ext cx="3241181" cy="421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3E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Quejas de trato desigual o cambios sin explicar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81944" y="2900980"/>
            <a:ext cx="3241181" cy="421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3E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Más ausencias y pedidos de cambio de turno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55042" y="975959"/>
            <a:ext cx="3481917" cy="2463359"/>
          </a:xfrm>
          <a:prstGeom prst="roundRect">
            <a:avLst>
              <a:gd name="adj" fmla="val 2964"/>
            </a:avLst>
          </a:prstGeom>
          <a:solidFill>
            <a:srgbClr val="FFFDF9"/>
          </a:solidFill>
          <a:ln w="6350">
            <a:solidFill>
              <a:srgbClr val="D3D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522611" y="1118130"/>
            <a:ext cx="3241181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C5D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Instrumentos: cómo medir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22611" y="1394972"/>
            <a:ext cx="3241181" cy="421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3E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Pulso ILI al equipo (las 4 dimensiones) cada [__] semanas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22611" y="1854640"/>
            <a:ext cx="3241181" cy="421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3E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3 preguntas de justicia: ¿me escuchan?, ¿me explican?, ¿me tratan igual?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22611" y="2314311"/>
            <a:ext cx="3241181" cy="2234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3E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Entrevistas de salida y de permanencia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22611" y="2575895"/>
            <a:ext cx="3241181" cy="421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3E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Tablero: rotación, ausentismo, demora y quiebres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995708" y="975959"/>
            <a:ext cx="3481917" cy="2463359"/>
          </a:xfrm>
          <a:prstGeom prst="roundRect">
            <a:avLst>
              <a:gd name="adj" fmla="val 2964"/>
            </a:avLst>
          </a:prstGeom>
          <a:solidFill>
            <a:srgbClr val="FFFDF9"/>
          </a:solidFill>
          <a:ln w="6350">
            <a:solidFill>
              <a:srgbClr val="D3D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8163278" y="1118130"/>
            <a:ext cx="3241181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E2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Prevención: qué hacer antes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63278" y="1394972"/>
            <a:ext cx="3241181" cy="421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3E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Ingreso 30-60-90 días: primero mostrador, después jefatura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63278" y="1854640"/>
            <a:ext cx="3241181" cy="421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3E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El equipo conoce al encargado antes de su asunción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63278" y="2314311"/>
            <a:ext cx="3241181" cy="421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3E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Seleccionar por ajuste al grupo, no solo por currículum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63278" y="2773980"/>
            <a:ext cx="3241181" cy="2234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3E4A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Encuentro local–planta: una sola red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1200" y="3594894"/>
            <a:ext cx="10769600" cy="683154"/>
          </a:xfrm>
          <a:prstGeom prst="roundRect">
            <a:avLst>
              <a:gd name="adj" fmla="val 11154"/>
            </a:avLst>
          </a:prstGeom>
          <a:solidFill>
            <a:srgbClr val="1E2A3A"/>
          </a:solidFill>
          <a:ln/>
        </p:spPr>
        <p:txBody>
          <a:bodyPr wrap="square" lIns="155482" tIns="104682" rIns="0" bIns="79282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F2A6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Regla práctica:</a:t>
            </a:r>
            <a:r>
              <a:rPr lang="en-US" sz="1300" dirty="0">
                <a:solidFill>
                  <a:srgbClr val="E9E4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cuando el equipo dice “él” en lugar de “nosotros”, el liderazgo ya se está perdiendo. Intervenir ahí, antes de que caigan los números.</a:t>
            </a:r>
            <a:endParaRPr lang="en-US" sz="1300" dirty="0"/>
          </a:p>
        </p:txBody>
      </p:sp>
      <p:sp>
        <p:nvSpPr>
          <p:cNvPr id="24" name="Rectangle 23"/>
          <p:cNvSpPr/>
          <p:nvPr/>
        </p:nvSpPr>
        <p:spPr>
          <a:xfrm>
            <a:off x="711200" y="4400000"/>
            <a:ext cx="10769600" cy="1950000"/>
          </a:xfrm>
          <a:prstGeom prst="rect">
            <a:avLst/>
          </a:prstGeom>
          <a:solidFill>
            <a:srgbClr val="FFFDF9"/>
          </a:solidFill>
          <a:ln w="15875">
            <a:solidFill>
              <a:srgbClr val="2C5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1200" y="4530000"/>
            <a:ext cx="104096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2C5D8F"/>
                </a:solidFill>
                <a:latin typeface="IBM Plex Sans"/>
              </a:rPr>
              <a:t>Referencia · ¿Qué es el “pulso ILI”?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200" y="4880000"/>
            <a:ext cx="4892512" cy="139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E2A3A"/>
                </a:solidFill>
                <a:latin typeface="IBM Plex Sans"/>
              </a:rPr>
              <a:t>ILI = Identity Leadership Inventory</a:t>
            </a:r>
            <a:r>
              <a:rPr sz="1200" b="0">
                <a:solidFill>
                  <a:srgbClr val="3E4A5A"/>
                </a:solidFill>
                <a:latin typeface="IBM Plex Sans"/>
              </a:rPr>
              <a:t> (Inventario de Liderazgo de Identidad; Steffens, Haslam, Reicher y colegas, 2014). Es un cuestionario breve en el que el equipo califica a su líder en las 4 dimensiones del libro, con una escala de acuerdo.</a:t>
            </a:r>
          </a:p>
          <a:p>
            <a:pPr algn="l">
              <a:spcBef>
                <a:spcPts val="600"/>
              </a:spcBef>
            </a:pPr>
            <a:r>
              <a:rPr sz="1200" b="1">
                <a:solidFill>
                  <a:srgbClr val="1E2A3A"/>
                </a:solidFill>
                <a:latin typeface="IBM Plex Sans"/>
              </a:rPr>
              <a:t>Pulso</a:t>
            </a:r>
            <a:r>
              <a:rPr sz="1200" b="0">
                <a:solidFill>
                  <a:srgbClr val="3E4A5A"/>
                </a:solidFill>
                <a:latin typeface="IBM Plex Sans"/>
              </a:rPr>
              <a:t> = aplicarlo en forma corta, anónima y periódica (cada [__] semanas) para seguir la tendencia en el tiempo.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3712" y="4880000"/>
            <a:ext cx="5267088" cy="139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E2A3A"/>
                </a:solidFill>
                <a:latin typeface="IBM Plex Sans"/>
              </a:rPr>
              <a:t>Qué se le pregunta al equipo (ejemplos):</a:t>
            </a:r>
          </a:p>
          <a:p>
            <a:pPr algn="l">
              <a:spcBef>
                <a:spcPts val="300"/>
              </a:spcBef>
            </a:pPr>
            <a:r>
              <a:rPr sz="1200" b="1">
                <a:solidFill>
                  <a:srgbClr val="B4501A"/>
                </a:solidFill>
                <a:latin typeface="IBM Plex Sans"/>
              </a:rPr>
              <a:t>• Prototipicidad: </a:t>
            </a:r>
            <a:r>
              <a:rPr sz="1200" b="0">
                <a:solidFill>
                  <a:srgbClr val="3E4A5A"/>
                </a:solidFill>
                <a:latin typeface="IBM Plex Sans"/>
              </a:rPr>
              <a:t>¿El encargado representa lo que somos como equipo?</a:t>
            </a:r>
          </a:p>
          <a:p>
            <a:pPr algn="l">
              <a:spcBef>
                <a:spcPts val="300"/>
              </a:spcBef>
            </a:pPr>
            <a:r>
              <a:rPr sz="1200" b="1">
                <a:solidFill>
                  <a:srgbClr val="B4501A"/>
                </a:solidFill>
                <a:latin typeface="IBM Plex Sans"/>
              </a:rPr>
              <a:t>• Promoción: </a:t>
            </a:r>
            <a:r>
              <a:rPr sz="1200" b="0">
                <a:solidFill>
                  <a:srgbClr val="3E4A5A"/>
                </a:solidFill>
                <a:latin typeface="IBM Plex Sans"/>
              </a:rPr>
              <a:t>¿Defiende los intereses del equipo?</a:t>
            </a:r>
          </a:p>
          <a:p>
            <a:pPr algn="l">
              <a:spcBef>
                <a:spcPts val="300"/>
              </a:spcBef>
            </a:pPr>
            <a:r>
              <a:rPr sz="1200" b="1">
                <a:solidFill>
                  <a:srgbClr val="B4501A"/>
                </a:solidFill>
                <a:latin typeface="IBM Plex Sans"/>
              </a:rPr>
              <a:t>• Emprendimiento: </a:t>
            </a:r>
            <a:r>
              <a:rPr sz="1200" b="0">
                <a:solidFill>
                  <a:srgbClr val="3E4A5A"/>
                </a:solidFill>
                <a:latin typeface="IBM Plex Sans"/>
              </a:rPr>
              <a:t>¿Nos hace sentir parte de un mismo grupo?</a:t>
            </a:r>
          </a:p>
          <a:p>
            <a:pPr algn="l">
              <a:spcBef>
                <a:spcPts val="300"/>
              </a:spcBef>
            </a:pPr>
            <a:r>
              <a:rPr sz="1200" b="1">
                <a:solidFill>
                  <a:srgbClr val="B4501A"/>
                </a:solidFill>
                <a:latin typeface="IBM Plex Sans"/>
              </a:rPr>
              <a:t>• Impresariado: </a:t>
            </a:r>
            <a:r>
              <a:rPr sz="1200" b="0">
                <a:solidFill>
                  <a:srgbClr val="3E4A5A"/>
                </a:solidFill>
                <a:latin typeface="IBM Plex Sans"/>
              </a:rPr>
              <a:t>¿Crea espacios y actividades que nos unen?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420000"/>
            <a:ext cx="10769600" cy="420000"/>
          </a:xfrm>
        </p:spPr>
        <p:txBody>
          <a:bodyPr/>
          <a:lstStyle/>
          <a:p>
            <a:pPr algn="l"/>
            <a:r>
              <a:rPr sz="2600" b="1" dirty="0" err="1">
                <a:solidFill>
                  <a:srgbClr val="1E2A3A"/>
                </a:solidFill>
                <a:latin typeface="Source Serif 4"/>
              </a:rPr>
              <a:t>Conclusión</a:t>
            </a:r>
            <a:endParaRPr sz="2600" b="1" dirty="0">
              <a:solidFill>
                <a:srgbClr val="1E2A3A"/>
              </a:solidFill>
              <a:latin typeface="Source Serif 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11200" y="1000000"/>
            <a:ext cx="10769600" cy="56000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rIns="180000" rtlCol="0" anchor="ctr"/>
          <a:lstStyle/>
          <a:p>
            <a:pPr algn="l"/>
            <a:r>
              <a:rPr sz="1400" b="1">
                <a:solidFill>
                  <a:srgbClr val="F2A65A"/>
                </a:solidFill>
                <a:latin typeface="IBM Plex Sans"/>
              </a:rPr>
              <a:t>Idea central: </a:t>
            </a:r>
            <a:r>
              <a:rPr sz="1400" b="0">
                <a:solidFill>
                  <a:srgbClr val="E9E4DA"/>
                </a:solidFill>
                <a:latin typeface="IBM Plex Sans"/>
              </a:rPr>
              <a:t>el líder no influye por lo que es (rasgos, carisma, cargo), sino por lo que representa para el grupo. Del “yo” al “nosotros”.</a:t>
            </a:r>
          </a:p>
        </p:txBody>
      </p:sp>
      <p:sp>
        <p:nvSpPr>
          <p:cNvPr id="4" name="Rectangle 3"/>
          <p:cNvSpPr/>
          <p:nvPr/>
        </p:nvSpPr>
        <p:spPr>
          <a:xfrm>
            <a:off x="711200" y="1720000"/>
            <a:ext cx="2579900" cy="1950000"/>
          </a:xfrm>
          <a:prstGeom prst="rect">
            <a:avLst/>
          </a:prstGeom>
          <a:solidFill>
            <a:srgbClr val="FFFDF9"/>
          </a:solidFill>
          <a:ln w="9525">
            <a:solidFill>
              <a:srgbClr val="DED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170000" rIns="150000" bIns="100000" rtlCol="0" anchor="t"/>
          <a:lstStyle/>
          <a:p>
            <a:pPr algn="l"/>
            <a:r>
              <a:rPr sz="1800" b="1">
                <a:solidFill>
                  <a:srgbClr val="B4501A"/>
                </a:solidFill>
                <a:latin typeface="IBM Plex Sans"/>
              </a:rPr>
              <a:t>1</a:t>
            </a:r>
          </a:p>
          <a:p>
            <a:pPr algn="l">
              <a:spcBef>
                <a:spcPts val="400"/>
              </a:spcBef>
            </a:pPr>
            <a:r>
              <a:rPr sz="1300" b="1">
                <a:solidFill>
                  <a:srgbClr val="1E2A3A"/>
                </a:solidFill>
                <a:latin typeface="IBM Plex Sans"/>
              </a:rPr>
              <a:t>La influencia nace del nosotros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3E4A5A"/>
                </a:solidFill>
                <a:latin typeface="IBM Plex Sans"/>
              </a:rPr>
              <a:t>El grupo sigue a quien percibe como “uno de nosotros”. El poder es consecuencia de la influencia, no su origen.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1200" y="1720000"/>
            <a:ext cx="2579900" cy="60000"/>
          </a:xfrm>
          <a:prstGeom prst="rect">
            <a:avLst/>
          </a:prstGeom>
          <a:solidFill>
            <a:srgbClr val="B4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441100" y="1720000"/>
            <a:ext cx="2579900" cy="1950000"/>
          </a:xfrm>
          <a:prstGeom prst="rect">
            <a:avLst/>
          </a:prstGeom>
          <a:solidFill>
            <a:srgbClr val="FFFDF9"/>
          </a:solidFill>
          <a:ln w="9525">
            <a:solidFill>
              <a:srgbClr val="DED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170000" rIns="150000" bIns="100000" rtlCol="0" anchor="t"/>
          <a:lstStyle/>
          <a:p>
            <a:pPr algn="l"/>
            <a:r>
              <a:rPr sz="1800" b="1">
                <a:solidFill>
                  <a:srgbClr val="B4501A"/>
                </a:solidFill>
                <a:latin typeface="IBM Plex Sans"/>
              </a:rPr>
              <a:t>2</a:t>
            </a:r>
          </a:p>
          <a:p>
            <a:pPr algn="l">
              <a:spcBef>
                <a:spcPts val="400"/>
              </a:spcBef>
            </a:pPr>
            <a:r>
              <a:rPr sz="1300" b="1">
                <a:solidFill>
                  <a:srgbClr val="1E2A3A"/>
                </a:solidFill>
                <a:latin typeface="IBM Plex Sans"/>
              </a:rPr>
              <a:t>El carisma lo dan los seguidores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3E4A5A"/>
                </a:solidFill>
                <a:latin typeface="IBM Plex Sans"/>
              </a:rPr>
              <a:t>En los experimentos de Platow, el mismo líder parece más carismático cuando sus decisiones favorecen al grupo.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41100" y="1720000"/>
            <a:ext cx="2579900" cy="60000"/>
          </a:xfrm>
          <a:prstGeom prst="rect">
            <a:avLst/>
          </a:prstGeom>
          <a:solidFill>
            <a:srgbClr val="B4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171000" y="1720000"/>
            <a:ext cx="2579900" cy="1950000"/>
          </a:xfrm>
          <a:prstGeom prst="rect">
            <a:avLst/>
          </a:prstGeom>
          <a:solidFill>
            <a:srgbClr val="FFFDF9"/>
          </a:solidFill>
          <a:ln w="9525">
            <a:solidFill>
              <a:srgbClr val="DED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170000" rIns="150000" bIns="100000" rtlCol="0" anchor="t"/>
          <a:lstStyle/>
          <a:p>
            <a:pPr algn="l"/>
            <a:r>
              <a:rPr sz="1800" b="1">
                <a:solidFill>
                  <a:srgbClr val="B4501A"/>
                </a:solidFill>
                <a:latin typeface="IBM Plex Sans"/>
              </a:rPr>
              <a:t>3</a:t>
            </a:r>
          </a:p>
          <a:p>
            <a:pPr algn="l">
              <a:spcBef>
                <a:spcPts val="400"/>
              </a:spcBef>
            </a:pPr>
            <a:r>
              <a:rPr sz="1300" b="1">
                <a:solidFill>
                  <a:srgbClr val="1E2A3A"/>
                </a:solidFill>
                <a:latin typeface="IBM Plex Sans"/>
              </a:rPr>
              <a:t>Cuatro tareas del líder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3E4A5A"/>
                </a:solidFill>
                <a:latin typeface="IBM Plex Sans"/>
              </a:rPr>
              <a:t>Representar al grupo, defenderlo, construir el nosotros y hacerlo visible con rituales y logros.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1000" y="1720000"/>
            <a:ext cx="2579900" cy="60000"/>
          </a:xfrm>
          <a:prstGeom prst="rect">
            <a:avLst/>
          </a:prstGeom>
          <a:solidFill>
            <a:srgbClr val="B4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00900" y="1720000"/>
            <a:ext cx="2579900" cy="1950000"/>
          </a:xfrm>
          <a:prstGeom prst="rect">
            <a:avLst/>
          </a:prstGeom>
          <a:solidFill>
            <a:srgbClr val="FFFDF9"/>
          </a:solidFill>
          <a:ln w="9525">
            <a:solidFill>
              <a:srgbClr val="DED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170000" rIns="150000" bIns="100000" rtlCol="0" anchor="t"/>
          <a:lstStyle/>
          <a:p>
            <a:pPr algn="l"/>
            <a:r>
              <a:rPr sz="1800" b="1">
                <a:solidFill>
                  <a:srgbClr val="B4501A"/>
                </a:solidFill>
                <a:latin typeface="IBM Plex Sans"/>
              </a:rPr>
              <a:t>4</a:t>
            </a:r>
          </a:p>
          <a:p>
            <a:pPr algn="l">
              <a:spcBef>
                <a:spcPts val="400"/>
              </a:spcBef>
            </a:pPr>
            <a:r>
              <a:rPr sz="1300" b="1">
                <a:solidFill>
                  <a:srgbClr val="1E2A3A"/>
                </a:solidFill>
                <a:latin typeface="IBM Plex Sans"/>
              </a:rPr>
              <a:t>Poder “a través de”, no “sobre”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3E4A5A"/>
                </a:solidFill>
                <a:latin typeface="IBM Plex Sans"/>
              </a:rPr>
              <a:t>Premio y castigo logran cumplimiento sin compromiso. La identidad compartida hace que el grupo se autorregule.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00900" y="1720000"/>
            <a:ext cx="2579900" cy="60000"/>
          </a:xfrm>
          <a:prstGeom prst="rect">
            <a:avLst/>
          </a:prstGeom>
          <a:solidFill>
            <a:srgbClr val="B4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11200" y="3820000"/>
            <a:ext cx="2579900" cy="1950000"/>
          </a:xfrm>
          <a:prstGeom prst="rect">
            <a:avLst/>
          </a:prstGeom>
          <a:solidFill>
            <a:srgbClr val="FFFDF9"/>
          </a:solidFill>
          <a:ln w="9525">
            <a:solidFill>
              <a:srgbClr val="DED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170000" rIns="150000" bIns="100000" rtlCol="0" anchor="t"/>
          <a:lstStyle/>
          <a:p>
            <a:pPr algn="l"/>
            <a:r>
              <a:rPr sz="1800" b="1">
                <a:solidFill>
                  <a:srgbClr val="2C5D8F"/>
                </a:solidFill>
                <a:latin typeface="IBM Plex Sans"/>
              </a:rPr>
              <a:t>5</a:t>
            </a:r>
          </a:p>
          <a:p>
            <a:pPr algn="l">
              <a:spcBef>
                <a:spcPts val="400"/>
              </a:spcBef>
            </a:pPr>
            <a:r>
              <a:rPr sz="1300" b="1">
                <a:solidFill>
                  <a:srgbClr val="1E2A3A"/>
                </a:solidFill>
                <a:latin typeface="IBM Plex Sans"/>
              </a:rPr>
              <a:t>La tiranía nace del grupo que fracasa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3E4A5A"/>
                </a:solidFill>
                <a:latin typeface="IBM Plex Sans"/>
              </a:rPr>
              <a:t>El Experimento de la Prisión de la BBC discute a Zimbardo: el abuso no lo produce el rol, sino la pérdida de cohesión.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1200" y="3820000"/>
            <a:ext cx="2579900" cy="60000"/>
          </a:xfrm>
          <a:prstGeom prst="rect">
            <a:avLst/>
          </a:prstGeom>
          <a:solidFill>
            <a:srgbClr val="2C5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41100" y="3820000"/>
            <a:ext cx="2579900" cy="1950000"/>
          </a:xfrm>
          <a:prstGeom prst="rect">
            <a:avLst/>
          </a:prstGeom>
          <a:solidFill>
            <a:srgbClr val="FFFDF9"/>
          </a:solidFill>
          <a:ln w="9525">
            <a:solidFill>
              <a:srgbClr val="DED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170000" rIns="150000" bIns="100000" rtlCol="0" anchor="t"/>
          <a:lstStyle/>
          <a:p>
            <a:pPr algn="l"/>
            <a:r>
              <a:rPr sz="1800" b="1">
                <a:solidFill>
                  <a:srgbClr val="2C5D8F"/>
                </a:solidFill>
                <a:latin typeface="IBM Plex Sans"/>
              </a:rPr>
              <a:t>6</a:t>
            </a:r>
          </a:p>
          <a:p>
            <a:pPr algn="l">
              <a:spcBef>
                <a:spcPts val="400"/>
              </a:spcBef>
            </a:pPr>
            <a:r>
              <a:rPr sz="1300" b="1">
                <a:solidFill>
                  <a:srgbClr val="1E2A3A"/>
                </a:solidFill>
                <a:latin typeface="IBM Plex Sans"/>
              </a:rPr>
              <a:t>La justicia depende del grupo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3E4A5A"/>
                </a:solidFill>
                <a:latin typeface="IBM Plex Sans"/>
              </a:rPr>
              <a:t>Trato igual adentro genera pertenencia; además, el grupo espera que el líder lo defienda frente a otros.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41100" y="3820000"/>
            <a:ext cx="2579900" cy="60000"/>
          </a:xfrm>
          <a:prstGeom prst="rect">
            <a:avLst/>
          </a:prstGeom>
          <a:solidFill>
            <a:srgbClr val="2C5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71000" y="3820000"/>
            <a:ext cx="2579900" cy="1950000"/>
          </a:xfrm>
          <a:prstGeom prst="rect">
            <a:avLst/>
          </a:prstGeom>
          <a:solidFill>
            <a:srgbClr val="FFFDF9"/>
          </a:solidFill>
          <a:ln w="9525">
            <a:solidFill>
              <a:srgbClr val="DED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170000" rIns="150000" bIns="100000" rtlCol="0" anchor="t"/>
          <a:lstStyle/>
          <a:p>
            <a:pPr algn="l"/>
            <a:r>
              <a:rPr sz="1800" b="1">
                <a:solidFill>
                  <a:srgbClr val="2C5D8F"/>
                </a:solidFill>
                <a:latin typeface="IBM Plex Sans"/>
              </a:rPr>
              <a:t>7</a:t>
            </a:r>
          </a:p>
          <a:p>
            <a:pPr algn="l">
              <a:spcBef>
                <a:spcPts val="400"/>
              </a:spcBef>
            </a:pPr>
            <a:r>
              <a:rPr sz="1300" b="1">
                <a:solidFill>
                  <a:srgbClr val="1E2A3A"/>
                </a:solidFill>
                <a:latin typeface="IBM Plex Sans"/>
              </a:rPr>
              <a:t>Es aplicable y medible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3E4A5A"/>
                </a:solidFill>
                <a:latin typeface="IBM Plex Sans"/>
              </a:rPr>
              <a:t>La 2ª edición incluye el programa 5R para desarrollar el liderazgo y la encuesta ILI para medirlo.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1000" y="3820000"/>
            <a:ext cx="2579900" cy="60000"/>
          </a:xfrm>
          <a:prstGeom prst="rect">
            <a:avLst/>
          </a:prstGeom>
          <a:solidFill>
            <a:srgbClr val="2C5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900900" y="3820000"/>
            <a:ext cx="2579900" cy="1950000"/>
          </a:xfrm>
          <a:prstGeom prst="rect">
            <a:avLst/>
          </a:prstGeom>
          <a:solidFill>
            <a:srgbClr val="B4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170000" rIns="150000" bIns="100000" rtlCol="0" anchor="t"/>
          <a:lstStyle/>
          <a:p>
            <a:pPr algn="l"/>
            <a:r>
              <a:rPr sz="1800" b="1">
                <a:solidFill>
                  <a:srgbClr val="FFFDF9"/>
                </a:solidFill>
                <a:latin typeface="IBM Plex Sans"/>
              </a:rPr>
              <a:t>→</a:t>
            </a:r>
          </a:p>
          <a:p>
            <a:pPr algn="l">
              <a:spcBef>
                <a:spcPts val="400"/>
              </a:spcBef>
            </a:pPr>
            <a:r>
              <a:rPr sz="1300" b="1">
                <a:solidFill>
                  <a:srgbClr val="FFFDF9"/>
                </a:solidFill>
                <a:latin typeface="IBM Plex Sans"/>
              </a:rPr>
              <a:t>Para Grido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FFFDF9"/>
                </a:solidFill>
                <a:latin typeface="IBM Plex Sans"/>
              </a:rPr>
              <a:t>Un encargado o supervisor de planta no lidera por estar arriba, sino por estar adentro del equipo.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iderazgo de Identidad en Grido">
  <a:themeElements>
    <a:clrScheme name="Liderazgo de Identidad en Grido">
      <a:dk1>
        <a:srgbClr val="1E2A3A"/>
      </a:dk1>
      <a:lt1>
        <a:srgbClr val="F7F4EE"/>
      </a:lt1>
      <a:dk2>
        <a:srgbClr val="545D67"/>
      </a:dk2>
      <a:lt2>
        <a:srgbClr val="E1E0DC"/>
      </a:lt2>
      <a:accent1>
        <a:srgbClr val="B4501A"/>
      </a:accent1>
      <a:accent2>
        <a:srgbClr val="2C5D8F"/>
      </a:accent2>
      <a:accent3>
        <a:srgbClr val="F2A65A"/>
      </a:accent3>
      <a:accent4>
        <a:srgbClr val="3E4A5A"/>
      </a:accent4>
      <a:accent5>
        <a:srgbClr val="6A7280"/>
      </a:accent5>
      <a:accent6>
        <a:srgbClr val="5A6472"/>
      </a:accent6>
      <a:hlink>
        <a:srgbClr val="0563C1"/>
      </a:hlink>
      <a:folHlink>
        <a:srgbClr val="954F72"/>
      </a:folHlink>
    </a:clrScheme>
    <a:fontScheme name="Liderazgo de Identidad en Grido">
      <a:majorFont>
        <a:latin typeface="Source Serif 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3345</Words>
  <Application>Microsoft Office PowerPoint</Application>
  <PresentationFormat>Panorámica</PresentationFormat>
  <Paragraphs>217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IBM Plex Sans</vt:lpstr>
      <vt:lpstr>Source Serif 4</vt:lpstr>
      <vt:lpstr>Liderazgo de Identidad en Grido</vt:lpstr>
      <vt:lpstr>Bases del poder de French y Raven: qué provocan en las personas</vt:lpstr>
      <vt:lpstr>El líder como “uno de nosotros¨</vt:lpstr>
      <vt:lpstr>Qué psicología predomina hoy y cuál debe predominar</vt:lpstr>
      <vt:lpstr>Caso “El encargado al que nadie sigue”: Ishikawa con hipótesis</vt:lpstr>
      <vt:lpstr>Impacto: primero el equipo, después el negocio</vt:lpstr>
      <vt:lpstr>A3: de la causa raíz al programa 5R</vt:lpstr>
      <vt:lpstr>Detección temprana y seguimiento (A3 · 6)</vt:lpstr>
      <vt:lpstr>Conclusión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Liderazgo de Identidad en Grido</dc:title>
  <dc:subject/>
  <dc:creator/>
  <cp:lastModifiedBy>Gustavo Nardone</cp:lastModifiedBy>
  <cp:revision>4</cp:revision>
  <dcterms:created xsi:type="dcterms:W3CDTF">2026-10-07T14:29:32Z</dcterms:created>
  <dcterms:modified xsi:type="dcterms:W3CDTF">2026-10-07T14:51:09Z</dcterms:modified>
</cp:coreProperties>
</file>